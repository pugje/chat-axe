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slideLayouts/slideLayout26.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Default Extension="wdp" ContentType="image/vnd.ms-photo"/>
  <Override PartName="/ppt/slideLayouts/slideLayout10.xml" ContentType="application/vnd.openxmlformats-officedocument.presentationml.slideLayout+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theme/theme4.xml" ContentType="application/vnd.openxmlformats-officedocument.theme+xml"/>
  <Default Extension="bin" ContentType="application/vnd.openxmlformats-officedocument.oleObject"/>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Default Extension="jpeg" ContentType="image/jpeg"/>
  <Default Extension="emf" ContentType="image/x-emf"/>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4" r:id="rId1"/>
    <p:sldMasterId id="2147483686" r:id="rId2"/>
  </p:sldMasterIdLst>
  <p:notesMasterIdLst>
    <p:notesMasterId r:id="rId24"/>
  </p:notesMasterIdLst>
  <p:handoutMasterIdLst>
    <p:handoutMasterId r:id="rId25"/>
  </p:handoutMasterIdLst>
  <p:sldIdLst>
    <p:sldId id="593" r:id="rId3"/>
    <p:sldId id="522" r:id="rId4"/>
    <p:sldId id="265" r:id="rId5"/>
    <p:sldId id="594" r:id="rId6"/>
    <p:sldId id="570" r:id="rId7"/>
    <p:sldId id="574" r:id="rId8"/>
    <p:sldId id="587" r:id="rId9"/>
    <p:sldId id="588" r:id="rId10"/>
    <p:sldId id="589" r:id="rId11"/>
    <p:sldId id="590" r:id="rId12"/>
    <p:sldId id="582" r:id="rId13"/>
    <p:sldId id="583" r:id="rId14"/>
    <p:sldId id="599" r:id="rId15"/>
    <p:sldId id="591" r:id="rId16"/>
    <p:sldId id="584" r:id="rId17"/>
    <p:sldId id="598" r:id="rId18"/>
    <p:sldId id="592" r:id="rId19"/>
    <p:sldId id="585" r:id="rId20"/>
    <p:sldId id="596" r:id="rId21"/>
    <p:sldId id="597" r:id="rId22"/>
    <p:sldId id="595"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ED8137"/>
    <a:srgbClr val="BC8F00"/>
    <a:srgbClr val="860000"/>
    <a:srgbClr val="00B0F0"/>
    <a:srgbClr val="1B3F5B"/>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5515" autoAdjust="0"/>
    <p:restoredTop sz="94660"/>
  </p:normalViewPr>
  <p:slideViewPr>
    <p:cSldViewPr snapToGrid="0">
      <p:cViewPr varScale="1">
        <p:scale>
          <a:sx n="71" d="100"/>
          <a:sy n="71" d="100"/>
        </p:scale>
        <p:origin x="-672" y="-108"/>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1/29/2025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1/29/2025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p27:notes"/>
          <p:cNvSpPr txBox="1">
            <a:spLocks noGrp="1"/>
          </p:cNvSpPr>
          <p:nvPr>
            <p:ph type="body" idx="1"/>
          </p:nvPr>
        </p:nvSpPr>
        <p:spPr>
          <a:xfrm>
            <a:off x="1375421" y="6621517"/>
            <a:ext cx="11003365" cy="5417605"/>
          </a:xfrm>
          <a:prstGeom prst="rect">
            <a:avLst/>
          </a:prstGeom>
        </p:spPr>
        <p:txBody>
          <a:bodyPr spcFirstLastPara="1" wrap="square" lIns="154051" tIns="77005" rIns="154051" bIns="77005" anchor="t" anchorCtr="0">
            <a:noAutofit/>
          </a:bodyPr>
          <a:lstStyle/>
          <a:p>
            <a:endParaRPr/>
          </a:p>
        </p:txBody>
      </p:sp>
      <p:sp>
        <p:nvSpPr>
          <p:cNvPr id="372" name="Google Shape;372;p27:notes"/>
          <p:cNvSpPr>
            <a:spLocks noGrp="1" noRot="1" noChangeAspect="1"/>
          </p:cNvSpPr>
          <p:nvPr>
            <p:ph type="sldImg" idx="2"/>
          </p:nvPr>
        </p:nvSpPr>
        <p:spPr>
          <a:xfrm>
            <a:off x="2747963" y="1719263"/>
            <a:ext cx="8258175" cy="4645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By: Pramod Vishwakarma (E9758)</a:t>
            </a:r>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By: Pramod Vishwakarma (E9758)</a:t>
            </a:r>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By: Pramod Vishwakarma (E9758)</a:t>
            </a:r>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By: Pramod Vishwakarma (E9758)</a:t>
            </a:r>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r>
              <a:rPr lang="en-US"/>
              <a:t>By: Pramod Vishwakarma (E9758)</a:t>
            </a:r>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en-US"/>
              <a:t>By: Pramod Vishwakarma (E9758)</a:t>
            </a:r>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r>
              <a:rPr lang="en-US"/>
              <a:t>By: Pramod Vishwakarma (E9758)</a:t>
            </a:r>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By: Pramod Vishwakarma (E9758)</a:t>
            </a:r>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By: Pramod Vishwakarma (E9758)</a:t>
            </a:r>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By: Pramod Vishwakarma (E9758)</a:t>
            </a:r>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By: Pramod Vishwakarma (E9758)</a:t>
            </a:r>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r>
              <a:rPr lang="en-US">
                <a:solidFill>
                  <a:prstClr val="black">
                    <a:tint val="75000"/>
                  </a:prstClr>
                </a:solidFill>
              </a:rPr>
              <a:t>By: Pramod Vishwakarma (E9758)</a:t>
            </a: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 xmlns:p14="http://schemas.microsoft.com/office/powerpoint/2010/main" val="41039031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_Title Slide">
  <p:cSld name="2_Title Slide">
    <p:spTree>
      <p:nvGrpSpPr>
        <p:cNvPr id="1" name="Shape 34"/>
        <p:cNvGrpSpPr/>
        <p:nvPr/>
      </p:nvGrpSpPr>
      <p:grpSpPr>
        <a:xfrm>
          <a:off x="0" y="0"/>
          <a:ext cx="0" cy="0"/>
          <a:chOff x="0" y="0"/>
          <a:chExt cx="0" cy="0"/>
        </a:xfrm>
      </p:grpSpPr>
      <p:sp>
        <p:nvSpPr>
          <p:cNvPr id="35" name="Google Shape;35;p32"/>
          <p:cNvSpPr txBox="1">
            <a:spLocks noGrp="1"/>
          </p:cNvSpPr>
          <p:nvPr>
            <p:ph type="dt" idx="10"/>
          </p:nvPr>
        </p:nvSpPr>
        <p:spPr>
          <a:xfrm>
            <a:off x="838199" y="6356360"/>
            <a:ext cx="2743201" cy="365124"/>
          </a:xfrm>
          <a:prstGeom prst="rect">
            <a:avLst/>
          </a:prstGeom>
          <a:noFill/>
          <a:ln>
            <a:noFill/>
          </a:ln>
        </p:spPr>
        <p:txBody>
          <a:bodyPr spcFirstLastPara="1" wrap="square" lIns="183399" tIns="91674" rIns="183399" bIns="91674"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32"/>
          <p:cNvSpPr txBox="1">
            <a:spLocks noGrp="1"/>
          </p:cNvSpPr>
          <p:nvPr>
            <p:ph type="ftr" idx="11"/>
          </p:nvPr>
        </p:nvSpPr>
        <p:spPr>
          <a:xfrm>
            <a:off x="4038602" y="6356360"/>
            <a:ext cx="4114801" cy="365124"/>
          </a:xfrm>
          <a:prstGeom prst="rect">
            <a:avLst/>
          </a:prstGeom>
          <a:noFill/>
          <a:ln>
            <a:noFill/>
          </a:ln>
        </p:spPr>
        <p:txBody>
          <a:bodyPr spcFirstLastPara="1" wrap="square" lIns="183399" tIns="91674" rIns="183399" bIns="91674"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32"/>
          <p:cNvSpPr txBox="1">
            <a:spLocks noGrp="1"/>
          </p:cNvSpPr>
          <p:nvPr>
            <p:ph type="sldNum" idx="12"/>
          </p:nvPr>
        </p:nvSpPr>
        <p:spPr>
          <a:xfrm>
            <a:off x="8610600" y="6356360"/>
            <a:ext cx="2743201" cy="365124"/>
          </a:xfrm>
          <a:prstGeom prst="rect">
            <a:avLst/>
          </a:prstGeom>
          <a:noFill/>
          <a:ln>
            <a:noFill/>
          </a:ln>
        </p:spPr>
        <p:txBody>
          <a:bodyPr spcFirstLastPara="1" wrap="square" lIns="183399" tIns="91674" rIns="183399" bIns="91674"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 xmlns:p14="http://schemas.microsoft.com/office/powerpoint/2010/main" val="270909644"/>
      </p:ext>
    </p:extLst>
  </p:cSld>
  <p:clrMapOvr>
    <a:masterClrMapping/>
  </p:clrMapOvr>
  <p:extLst>
    <p:ext uri="{DCECCB84-F9BA-43D5-87BE-67443E8EF086}">
      <p15:sldGuideLst xmlns=""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 xmlns:p14="http://schemas.microsoft.com/office/powerpoint/2010/main" val="3227159557"/>
      </p:ext>
    </p:extLst>
  </p:cSld>
  <p:clrMapOvr>
    <a:masterClrMapping/>
  </p:clrMapOvr>
  <p:extLst>
    <p:ext uri="{DCECCB84-F9BA-43D5-87BE-67443E8EF086}">
      <p15:sldGuideLst xmlns=""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 xmlns:p14="http://schemas.microsoft.com/office/powerpoint/2010/main" val="3804378142"/>
      </p:ext>
    </p:extLst>
  </p:cSld>
  <p:clrMapOvr>
    <a:masterClrMapping/>
  </p:clrMapOvr>
  <p:extLst>
    <p:ext uri="{DCECCB84-F9BA-43D5-87BE-67443E8EF086}">
      <p15:sldGuideLst xmlns=""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 xmlns:p14="http://schemas.microsoft.com/office/powerpoint/2010/main"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 xmlns:p14="http://schemas.microsoft.com/office/powerpoint/2010/main"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 xmlns:p14="http://schemas.microsoft.com/office/powerpoint/2010/main"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 xmlns:p14="http://schemas.microsoft.com/office/powerpoint/2010/main"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 xmlns:p14="http://schemas.microsoft.com/office/powerpoint/2010/main"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 xmlns:p14="http://schemas.microsoft.com/office/powerpoint/2010/main"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 xmlns:p14="http://schemas.microsoft.com/office/powerpoint/2010/main"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a:extLst>
              <a:ext uri="{28A0092B-C50C-407E-A947-70E740481C1C}">
                <a14:useLocalDpi xmlns=""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a:extLst>
              <a:ext uri="{28A0092B-C50C-407E-A947-70E740481C1C}">
                <a14:useLocalDpi xmlns=""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a:extLst>
              <a:ext uri="{28A0092B-C50C-407E-A947-70E740481C1C}">
                <a14:useLocalDpi xmlns=""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 xmlns:p14="http://schemas.microsoft.com/office/powerpoint/2010/main"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 xmlns:p14="http://schemas.microsoft.com/office/powerpoint/2010/main"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By: Pramod Vishwakarma (E9758)</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705" r:id="rId12"/>
    <p:sldLayoutId id="2147483706" r:id="rId13"/>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hf hdr="0" dt="0"/>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microsoft.com/office/2007/relationships/hdphoto" Target="../media/image4.wdp"/><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3.xml"/><Relationship Id="rId1" Type="http://schemas.openxmlformats.org/officeDocument/2006/relationships/vmlDrawing" Target="../drawings/vmlDrawing2.vml"/><Relationship Id="rId5" Type="http://schemas.openxmlformats.org/officeDocument/2006/relationships/image" Target="../media/image14.png"/><Relationship Id="rId4" Type="http://schemas.openxmlformats.org/officeDocument/2006/relationships/oleObject" Target="../embeddings/oleObject2.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5426644"/>
            <a:ext cx="12196420" cy="15180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3429" tIns="91714" rIns="183429" bIns="91714" rtlCol="0" anchor="ctr"/>
          <a:lstStyle/>
          <a:p>
            <a:pPr algn="ctr"/>
            <a:endParaRPr lang="en-US" dirty="0">
              <a:solidFill>
                <a:prstClr val="white"/>
              </a:solidFill>
            </a:endParaRPr>
          </a:p>
        </p:txBody>
      </p:sp>
      <p:sp>
        <p:nvSpPr>
          <p:cNvPr id="32" name="Rectangle 31"/>
          <p:cNvSpPr/>
          <p:nvPr/>
        </p:nvSpPr>
        <p:spPr>
          <a:xfrm>
            <a:off x="302198" y="5901125"/>
            <a:ext cx="45719" cy="613667"/>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83429" tIns="91714" rIns="183429" bIns="91714" rtlCol="0" anchor="ctr"/>
          <a:lstStyle/>
          <a:p>
            <a:pPr algn="ctr"/>
            <a:endParaRPr lang="en-US" dirty="0">
              <a:solidFill>
                <a:prstClr val="white"/>
              </a:solidFill>
            </a:endParaRPr>
          </a:p>
        </p:txBody>
      </p:sp>
      <p:sp>
        <p:nvSpPr>
          <p:cNvPr id="44" name="Slide Number Placeholder 2"/>
          <p:cNvSpPr txBox="1"/>
          <p:nvPr/>
        </p:nvSpPr>
        <p:spPr>
          <a:xfrm>
            <a:off x="8763000" y="6507677"/>
            <a:ext cx="2743201" cy="364998"/>
          </a:xfrm>
          <a:prstGeom prst="rect">
            <a:avLst/>
          </a:prstGeom>
        </p:spPr>
        <p:txBody>
          <a:bodyPr vert="horz" lIns="91427" tIns="45715" rIns="91427" bIns="45715"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prstClr val="black">
                  <a:tint val="75000"/>
                </a:prstClr>
              </a:solidFill>
            </a:endParaRPr>
          </a:p>
        </p:txBody>
      </p:sp>
      <p:sp>
        <p:nvSpPr>
          <p:cNvPr id="46" name="Right Triangle 45"/>
          <p:cNvSpPr/>
          <p:nvPr/>
        </p:nvSpPr>
        <p:spPr>
          <a:xfrm flipV="1">
            <a:off x="9506857" y="5939005"/>
            <a:ext cx="1291773" cy="1157202"/>
          </a:xfrm>
          <a:prstGeom prst="rtTriangle">
            <a:avLst/>
          </a:prstGeom>
          <a:solidFill>
            <a:srgbClr val="FFFFFF">
              <a:lumMod val="95000"/>
              <a:alpha val="17000"/>
            </a:srgbClr>
          </a:solidFill>
          <a:ln w="12700" cap="flat" cmpd="sng" algn="ctr">
            <a:noFill/>
            <a:prstDash val="solid"/>
            <a:miter lim="800000"/>
          </a:ln>
          <a:effectLst/>
        </p:spPr>
        <p:txBody>
          <a:bodyPr lIns="183429" tIns="91714" rIns="183429" bIns="91714" rtlCol="0" anchor="ctr"/>
          <a:lstStyle/>
          <a:p>
            <a:pPr algn="ctr">
              <a:defRPr/>
            </a:pPr>
            <a:endParaRPr lang="en-ID" kern="0" dirty="0">
              <a:solidFill>
                <a:srgbClr val="FFFFFF"/>
              </a:solidFill>
            </a:endParaRPr>
          </a:p>
        </p:txBody>
      </p:sp>
      <p:graphicFrame>
        <p:nvGraphicFramePr>
          <p:cNvPr id="48" name="Object 47"/>
          <p:cNvGraphicFramePr>
            <a:graphicFrameLocks noChangeAspect="1"/>
          </p:cNvGraphicFramePr>
          <p:nvPr/>
        </p:nvGraphicFramePr>
        <p:xfrm>
          <a:off x="76789" y="3121827"/>
          <a:ext cx="3303056" cy="3146964"/>
        </p:xfrm>
        <a:graphic>
          <a:graphicData uri="http://schemas.openxmlformats.org/presentationml/2006/ole">
            <p:oleObj spid="_x0000_s1026" name="CorelDRAW" r:id="rId3" imgW="2169000" imgH="2169360" progId="">
              <p:embed/>
            </p:oleObj>
          </a:graphicData>
        </a:graphic>
      </p:graphicFrame>
      <p:sp>
        <p:nvSpPr>
          <p:cNvPr id="37" name="Right Triangle 36"/>
          <p:cNvSpPr/>
          <p:nvPr/>
        </p:nvSpPr>
        <p:spPr>
          <a:xfrm flipH="1">
            <a:off x="7045438" y="-24570"/>
            <a:ext cx="5146561" cy="5850403"/>
          </a:xfrm>
          <a:prstGeom prst="rtTriangle">
            <a:avLst/>
          </a:prstGeom>
          <a:solidFill>
            <a:srgbClr val="FFFFFF">
              <a:lumMod val="95000"/>
              <a:alpha val="17000"/>
            </a:srgbClr>
          </a:solidFill>
          <a:ln w="12700" cap="flat" cmpd="sng" algn="ctr">
            <a:noFill/>
            <a:prstDash val="solid"/>
            <a:miter lim="800000"/>
          </a:ln>
          <a:effectLst/>
        </p:spPr>
        <p:txBody>
          <a:bodyPr lIns="183429" tIns="91714" rIns="183429" bIns="91714" rtlCol="0" anchor="ctr"/>
          <a:lstStyle/>
          <a:p>
            <a:pPr algn="ctr">
              <a:defRPr/>
            </a:pPr>
            <a:endParaRPr lang="en-ID" kern="0" dirty="0">
              <a:solidFill>
                <a:srgbClr val="FFFFFF"/>
              </a:solidFill>
            </a:endParaRPr>
          </a:p>
        </p:txBody>
      </p:sp>
      <p:sp>
        <p:nvSpPr>
          <p:cNvPr id="45" name="Rectangle 44"/>
          <p:cNvSpPr/>
          <p:nvPr/>
        </p:nvSpPr>
        <p:spPr>
          <a:xfrm>
            <a:off x="2124074" y="2026014"/>
            <a:ext cx="6829426" cy="158012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83429" tIns="91714" rIns="183429" bIns="91714" rtlCol="0" anchor="ctr"/>
          <a:lstStyle/>
          <a:p>
            <a:pPr algn="ctr"/>
            <a:endParaRPr lang="en-US" dirty="0">
              <a:solidFill>
                <a:prstClr val="white"/>
              </a:solidFill>
            </a:endParaRPr>
          </a:p>
        </p:txBody>
      </p:sp>
      <p:pic>
        <p:nvPicPr>
          <p:cNvPr id="30" name="Picture 29"/>
          <p:cNvPicPr>
            <a:picLocks noChangeAspect="1"/>
          </p:cNvPicPr>
          <p:nvPr/>
        </p:nvPicPr>
        <p:blipFill>
          <a:blip r:embed="rId4">
            <a:extLst>
              <a:ext uri="{BEBA8EAE-BF5A-486C-A8C5-ECC9F3942E4B}">
                <a14:imgProps xmlns:a14="http://schemas.microsoft.com/office/drawing/2010/main" xmlns="">
                  <a14:imgLayer r:embed="rId5">
                    <a14:imgEffect>
                      <a14:colorTemperature colorTemp="5742"/>
                    </a14:imgEffect>
                    <a14:imgEffect>
                      <a14:saturation sat="238000"/>
                    </a14:imgEffect>
                  </a14:imgLayer>
                </a14:imgProps>
              </a:ext>
              <a:ext uri="{28A0092B-C50C-407E-A947-70E740481C1C}">
                <a14:useLocalDpi xmlns:a14="http://schemas.microsoft.com/office/drawing/2010/main" xmlns="" val="0"/>
              </a:ext>
            </a:extLst>
          </a:blip>
          <a:stretch>
            <a:fillRect/>
          </a:stretch>
        </p:blipFill>
        <p:spPr>
          <a:xfrm>
            <a:off x="12104" y="25687"/>
            <a:ext cx="3859754" cy="1537717"/>
          </a:xfrm>
          <a:prstGeom prst="rect">
            <a:avLst/>
          </a:prstGeom>
        </p:spPr>
      </p:pic>
      <p:sp>
        <p:nvSpPr>
          <p:cNvPr id="43" name="Right Triangle 42"/>
          <p:cNvSpPr/>
          <p:nvPr/>
        </p:nvSpPr>
        <p:spPr>
          <a:xfrm rot="10800000" flipV="1">
            <a:off x="9829798" y="5333335"/>
            <a:ext cx="2366624" cy="1599643"/>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83429" tIns="91714" rIns="183429" bIns="91714" rtlCol="0" anchor="ctr"/>
          <a:lstStyle/>
          <a:p>
            <a:pPr algn="ctr"/>
            <a:endParaRPr lang="en-US" dirty="0">
              <a:solidFill>
                <a:prstClr val="white"/>
              </a:solidFill>
            </a:endParaRPr>
          </a:p>
        </p:txBody>
      </p:sp>
      <p:sp>
        <p:nvSpPr>
          <p:cNvPr id="36" name="TextBox 35"/>
          <p:cNvSpPr txBox="1">
            <a:spLocks noChangeArrowheads="1"/>
          </p:cNvSpPr>
          <p:nvPr/>
        </p:nvSpPr>
        <p:spPr bwMode="auto">
          <a:xfrm>
            <a:off x="6881359" y="6018656"/>
            <a:ext cx="4928608" cy="73921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183429" tIns="91714" rIns="183429" bIns="91714">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endParaRPr lang="en-US" sz="1600" b="1" dirty="0">
              <a:solidFill>
                <a:prstClr val="black"/>
              </a:solidFill>
              <a:latin typeface="Casper" panose="02000506000000020004" pitchFamily="2" charset="0"/>
            </a:endParaRPr>
          </a:p>
        </p:txBody>
      </p:sp>
      <p:sp>
        <p:nvSpPr>
          <p:cNvPr id="52" name="Rectangle 51"/>
          <p:cNvSpPr/>
          <p:nvPr/>
        </p:nvSpPr>
        <p:spPr>
          <a:xfrm>
            <a:off x="6885780" y="6042736"/>
            <a:ext cx="45719" cy="37049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83429" tIns="91714" rIns="183429" bIns="91714" rtlCol="0" anchor="ctr"/>
          <a:lstStyle/>
          <a:p>
            <a:pPr algn="ctr"/>
            <a:endParaRPr lang="en-US" dirty="0">
              <a:solidFill>
                <a:prstClr val="white"/>
              </a:solidFill>
            </a:endParaRPr>
          </a:p>
        </p:txBody>
      </p:sp>
      <p:sp>
        <p:nvSpPr>
          <p:cNvPr id="26" name="TextBox 25"/>
          <p:cNvSpPr txBox="1">
            <a:spLocks noChangeArrowheads="1"/>
          </p:cNvSpPr>
          <p:nvPr/>
        </p:nvSpPr>
        <p:spPr bwMode="auto">
          <a:xfrm>
            <a:off x="497493" y="1462266"/>
            <a:ext cx="11103426" cy="30290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183429" tIns="91714" rIns="183429" bIns="91714">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IN" sz="4800" b="1" dirty="0">
                <a:solidFill>
                  <a:prstClr val="black"/>
                </a:solidFill>
                <a:latin typeface="Cambria" panose="02040503050406030204" pitchFamily="18" charset="0"/>
              </a:rPr>
              <a:t>APEX INSTITUTE OF TECHNOLOGY</a:t>
            </a:r>
            <a:endParaRPr lang="en-US" sz="4800" dirty="0">
              <a:solidFill>
                <a:prstClr val="black"/>
              </a:solidFill>
              <a:latin typeface="Cambria" panose="02040503050406030204" pitchFamily="18" charset="0"/>
            </a:endParaRPr>
          </a:p>
          <a:p>
            <a:pPr algn="ctr"/>
            <a:r>
              <a:rPr lang="en-IN" sz="2800" b="1" dirty="0">
                <a:solidFill>
                  <a:prstClr val="black"/>
                </a:solidFill>
                <a:latin typeface="Cambria" panose="02040503050406030204" pitchFamily="18" charset="0"/>
              </a:rPr>
              <a:t>DEPARTMENT OF COMPUTER SCIENCE &amp; ENGINEERING</a:t>
            </a:r>
            <a:endParaRPr lang="en-US" sz="2800" b="1" dirty="0">
              <a:solidFill>
                <a:prstClr val="black"/>
              </a:solidFill>
              <a:latin typeface="Cambria" panose="02040503050406030204" pitchFamily="18" charset="0"/>
            </a:endParaRPr>
          </a:p>
          <a:p>
            <a:pPr algn="ctr" defTabSz="621619">
              <a:lnSpc>
                <a:spcPct val="90000"/>
              </a:lnSpc>
              <a:spcBef>
                <a:spcPct val="0"/>
              </a:spcBef>
              <a:spcAft>
                <a:spcPct val="35000"/>
              </a:spcAft>
            </a:pPr>
            <a:endParaRPr lang="en-US" altLang="en-US" sz="3200" b="1" dirty="0">
              <a:solidFill>
                <a:prstClr val="black"/>
              </a:solidFill>
              <a:latin typeface="Cambria" panose="02040503050406030204" pitchFamily="18" charset="0"/>
              <a:ea typeface="Calibri" panose="020F0502020204030204" charset="0"/>
              <a:cs typeface="Times New Roman" panose="02020603050405020304" pitchFamily="18" charset="0"/>
            </a:endParaRPr>
          </a:p>
          <a:p>
            <a:pPr algn="ctr" defTabSz="621619">
              <a:lnSpc>
                <a:spcPct val="90000"/>
              </a:lnSpc>
              <a:spcBef>
                <a:spcPct val="0"/>
              </a:spcBef>
              <a:spcAft>
                <a:spcPct val="35000"/>
              </a:spcAft>
            </a:pPr>
            <a:r>
              <a:rPr lang="en-US" sz="3200" dirty="0" smtClean="0">
                <a:solidFill>
                  <a:prstClr val="black">
                    <a:lumMod val="85000"/>
                    <a:lumOff val="15000"/>
                  </a:prstClr>
                </a:solidFill>
                <a:latin typeface="Cambria" panose="02040503050406030204" pitchFamily="18" charset="0"/>
                <a:cs typeface="Times New Roman" panose="02020603050405020304" pitchFamily="18" charset="0"/>
              </a:rPr>
              <a:t>COA(2</a:t>
            </a:r>
            <a:r>
              <a:rPr lang="en-IN" sz="3200" dirty="0" smtClean="0">
                <a:solidFill>
                  <a:prstClr val="black">
                    <a:lumMod val="85000"/>
                    <a:lumOff val="15000"/>
                  </a:prstClr>
                </a:solidFill>
                <a:latin typeface="Cambria" panose="02040503050406030204" pitchFamily="18" charset="0"/>
                <a:cs typeface="Times New Roman" panose="02020603050405020304" pitchFamily="18" charset="0"/>
              </a:rPr>
              <a:t>3</a:t>
            </a:r>
            <a:r>
              <a:rPr lang="en-IN" altLang="en-US" sz="3200" dirty="0" smtClean="0">
                <a:solidFill>
                  <a:prstClr val="black">
                    <a:lumMod val="85000"/>
                    <a:lumOff val="15000"/>
                  </a:prstClr>
                </a:solidFill>
                <a:latin typeface="Cambria" panose="02040503050406030204" pitchFamily="18" charset="0"/>
                <a:cs typeface="Times New Roman" panose="02020603050405020304" pitchFamily="18" charset="0"/>
              </a:rPr>
              <a:t>CST-281)</a:t>
            </a:r>
          </a:p>
          <a:p>
            <a:pPr algn="ctr" defTabSz="621619">
              <a:lnSpc>
                <a:spcPct val="90000"/>
              </a:lnSpc>
              <a:spcBef>
                <a:spcPct val="0"/>
              </a:spcBef>
              <a:spcAft>
                <a:spcPct val="35000"/>
              </a:spcAft>
            </a:pPr>
            <a:r>
              <a:rPr lang="en-US" sz="3200" b="1" dirty="0">
                <a:solidFill>
                  <a:prstClr val="black">
                    <a:lumMod val="85000"/>
                    <a:lumOff val="15000"/>
                  </a:prstClr>
                </a:solidFill>
                <a:latin typeface="Cambria" panose="02040503050406030204" pitchFamily="18" charset="0"/>
                <a:cs typeface="Times New Roman" panose="02020603050405020304" pitchFamily="18" charset="0"/>
              </a:rPr>
              <a:t>Faculty:</a:t>
            </a:r>
            <a:r>
              <a:rPr lang="en-US" sz="3200" dirty="0">
                <a:solidFill>
                  <a:prstClr val="black">
                    <a:lumMod val="85000"/>
                    <a:lumOff val="15000"/>
                  </a:prstClr>
                </a:solidFill>
                <a:latin typeface="Cambria" panose="02040503050406030204" pitchFamily="18" charset="0"/>
                <a:cs typeface="Times New Roman" panose="02020603050405020304" pitchFamily="18" charset="0"/>
              </a:rPr>
              <a:t> </a:t>
            </a:r>
            <a:r>
              <a:rPr lang="en-US" sz="3200" dirty="0" smtClean="0">
                <a:solidFill>
                  <a:prstClr val="black">
                    <a:lumMod val="85000"/>
                    <a:lumOff val="15000"/>
                  </a:prstClr>
                </a:solidFill>
                <a:latin typeface="Cambria" panose="02040503050406030204" pitchFamily="18" charset="0"/>
                <a:cs typeface="Times New Roman" panose="02020603050405020304" pitchFamily="18" charset="0"/>
              </a:rPr>
              <a:t>Dr. </a:t>
            </a:r>
            <a:r>
              <a:rPr lang="en-US" sz="3200" dirty="0" err="1" smtClean="0">
                <a:solidFill>
                  <a:prstClr val="black">
                    <a:lumMod val="85000"/>
                    <a:lumOff val="15000"/>
                  </a:prstClr>
                </a:solidFill>
                <a:latin typeface="Cambria" panose="02040503050406030204" pitchFamily="18" charset="0"/>
                <a:cs typeface="Times New Roman" panose="02020603050405020304" pitchFamily="18" charset="0"/>
              </a:rPr>
              <a:t>Kalpana</a:t>
            </a:r>
            <a:r>
              <a:rPr lang="en-US" sz="3200" dirty="0" smtClean="0">
                <a:solidFill>
                  <a:prstClr val="black">
                    <a:lumMod val="85000"/>
                    <a:lumOff val="15000"/>
                  </a:prstClr>
                </a:solidFill>
                <a:latin typeface="Cambria" panose="02040503050406030204" pitchFamily="18" charset="0"/>
                <a:cs typeface="Times New Roman" panose="02020603050405020304" pitchFamily="18" charset="0"/>
              </a:rPr>
              <a:t> Singh</a:t>
            </a:r>
            <a:r>
              <a:rPr lang="en-IN" altLang="en-US" sz="3200" dirty="0" smtClean="0">
                <a:solidFill>
                  <a:prstClr val="black">
                    <a:lumMod val="85000"/>
                    <a:lumOff val="15000"/>
                  </a:prstClr>
                </a:solidFill>
                <a:latin typeface="Cambria" panose="02040503050406030204" pitchFamily="18" charset="0"/>
                <a:cs typeface="Times New Roman" panose="02020603050405020304" pitchFamily="18" charset="0"/>
              </a:rPr>
              <a:t>(E14950)</a:t>
            </a:r>
            <a:endParaRPr lang="en-US" sz="1600" dirty="0">
              <a:solidFill>
                <a:prstClr val="black"/>
              </a:solidFill>
              <a:latin typeface="Cambria" panose="02040503050406030204" pitchFamily="18" charset="0"/>
            </a:endParaRPr>
          </a:p>
        </p:txBody>
      </p:sp>
      <p:sp>
        <p:nvSpPr>
          <p:cNvPr id="15" name="Slide Number Placeholder 14"/>
          <p:cNvSpPr>
            <a:spLocks noGrp="1"/>
          </p:cNvSpPr>
          <p:nvPr>
            <p:ph type="sldNum" sz="quarter" idx="12"/>
          </p:nvPr>
        </p:nvSpPr>
        <p:spPr/>
        <p:txBody>
          <a:bodyPr/>
          <a:lstStyle/>
          <a:p>
            <a:fld id="{BDCDBBEF-AA6C-4BA6-85B2-A17D7F280E38}" type="slidenum">
              <a:rPr lang="en-US" smtClean="0">
                <a:solidFill>
                  <a:prstClr val="black">
                    <a:tint val="75000"/>
                  </a:prstClr>
                </a:solidFill>
              </a:rPr>
              <a:pPr/>
              <a:t>1</a:t>
            </a:fld>
            <a:endParaRPr lang="en-US">
              <a:solidFill>
                <a:prstClr val="black">
                  <a:tint val="75000"/>
                </a:prstClr>
              </a:solidFill>
            </a:endParaRPr>
          </a:p>
        </p:txBody>
      </p:sp>
    </p:spTree>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9411" y="0"/>
            <a:ext cx="10515600" cy="1352282"/>
          </a:xfrm>
        </p:spPr>
        <p:txBody>
          <a:bodyPr>
            <a:normAutofit/>
          </a:bodyPr>
          <a:lstStyle/>
          <a:p>
            <a:r>
              <a:rPr lang="en-IN" sz="3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Computer Organization &amp; Architecture: Course Objectives</a:t>
            </a:r>
          </a:p>
        </p:txBody>
      </p:sp>
      <p:sp>
        <p:nvSpPr>
          <p:cNvPr id="9" name="Slide Number Placeholder 8"/>
          <p:cNvSpPr>
            <a:spLocks noGrp="1"/>
          </p:cNvSpPr>
          <p:nvPr>
            <p:ph type="sldNum" sz="quarter" idx="12"/>
          </p:nvPr>
        </p:nvSpPr>
        <p:spPr/>
        <p:txBody>
          <a:bodyPr/>
          <a:lstStyle/>
          <a:p>
            <a:fld id="{BDCDBBEF-AA6C-4BA6-85B2-A17D7F280E38}" type="slidenum">
              <a:rPr lang="en-US" smtClean="0"/>
              <a:pPr/>
              <a:t>2</a:t>
            </a:fld>
            <a:endParaRPr lang="en-US"/>
          </a:p>
        </p:txBody>
      </p:sp>
      <p:sp>
        <p:nvSpPr>
          <p:cNvPr id="4" name="Rectangle 3"/>
          <p:cNvSpPr/>
          <p:nvPr/>
        </p:nvSpPr>
        <p:spPr>
          <a:xfrm>
            <a:off x="734095" y="1146220"/>
            <a:ext cx="11075831" cy="5340693"/>
          </a:xfrm>
          <a:prstGeom prst="rect">
            <a:avLst/>
          </a:prstGeom>
        </p:spPr>
        <p:txBody>
          <a:bodyPr wrap="square">
            <a:spAutoFit/>
          </a:bodyPr>
          <a:lstStyle/>
          <a:p>
            <a:pPr lvl="0" algn="just"/>
            <a:r>
              <a:rPr lang="en-US" sz="2400" b="1" dirty="0">
                <a:latin typeface="Times New Roman" panose="02020603050405020304" pitchFamily="18" charset="0"/>
                <a:cs typeface="Times New Roman" panose="02020603050405020304" pitchFamily="18" charset="0"/>
              </a:rPr>
              <a:t>COURSE OBJECTIVES</a:t>
            </a:r>
          </a:p>
          <a:p>
            <a:pPr lvl="0" algn="just"/>
            <a:r>
              <a:rPr lang="en-US" sz="2400" dirty="0">
                <a:latin typeface="Times New Roman" panose="02020603050405020304" pitchFamily="18" charset="0"/>
                <a:cs typeface="Times New Roman" panose="02020603050405020304" pitchFamily="18" charset="0"/>
              </a:rPr>
              <a:t>The course aims to:</a:t>
            </a:r>
            <a:endParaRPr lang="en-US" sz="2400" b="1" i="1" dirty="0">
              <a:latin typeface="Times New Roman" panose="02020603050405020304" pitchFamily="18" charset="0"/>
              <a:cs typeface="Times New Roman" panose="02020603050405020304" pitchFamily="18" charset="0"/>
            </a:endParaRPr>
          </a:p>
          <a:p>
            <a:pPr marL="457200" lvl="0" indent="-457200" algn="just">
              <a:lnSpc>
                <a:spcPct val="150000"/>
              </a:lnSpc>
              <a:buFont typeface="+mj-lt"/>
              <a:buAutoNum type="arabicParenR"/>
            </a:pPr>
            <a:r>
              <a:rPr lang="en-US" sz="2200" dirty="0">
                <a:latin typeface="Times New Roman" panose="02020603050405020304" pitchFamily="18" charset="0"/>
                <a:cs typeface="Times New Roman" panose="02020603050405020304" pitchFamily="18" charset="0"/>
              </a:rPr>
              <a:t>The purpose of the course is to introduce principles of computer organization and the basic architectural concepts.</a:t>
            </a:r>
          </a:p>
          <a:p>
            <a:pPr marL="457200" lvl="0" indent="-457200" algn="just">
              <a:lnSpc>
                <a:spcPct val="150000"/>
              </a:lnSpc>
              <a:buFont typeface="+mj-lt"/>
              <a:buAutoNum type="arabicParenR"/>
            </a:pPr>
            <a:r>
              <a:rPr lang="en-US" sz="2200" dirty="0">
                <a:latin typeface="Times New Roman" panose="02020603050405020304" pitchFamily="18" charset="0"/>
                <a:cs typeface="Times New Roman" panose="02020603050405020304" pitchFamily="18" charset="0"/>
              </a:rPr>
              <a:t>It begins with basic organization, design, and programming of a simple digital computer and introduces simple register transfer language to specify various computer operations.</a:t>
            </a:r>
          </a:p>
          <a:p>
            <a:pPr marL="457200" lvl="0" indent="-457200" algn="just">
              <a:lnSpc>
                <a:spcPct val="150000"/>
              </a:lnSpc>
              <a:buFont typeface="+mj-lt"/>
              <a:buAutoNum type="arabicParenR"/>
            </a:pPr>
            <a:r>
              <a:rPr lang="en-US" sz="2200" dirty="0">
                <a:latin typeface="Times New Roman" panose="02020603050405020304" pitchFamily="18" charset="0"/>
                <a:cs typeface="Times New Roman" panose="02020603050405020304" pitchFamily="18" charset="0"/>
              </a:rPr>
              <a:t>Topics include computer arithmetic, instruction set design, microprogrammed control unit, pipelining and vector processing, memory organization and I/O systems, and multiprocessors.</a:t>
            </a:r>
          </a:p>
          <a:p>
            <a:pPr marL="457200" lvl="0" indent="-457200" algn="just">
              <a:lnSpc>
                <a:spcPct val="150000"/>
              </a:lnSpc>
              <a:buFont typeface="+mj-lt"/>
              <a:buAutoNum type="arabicParenR"/>
            </a:pPr>
            <a:r>
              <a:rPr lang="en-US" sz="2200" dirty="0">
                <a:latin typeface="Times New Roman" panose="02020603050405020304" pitchFamily="18" charset="0"/>
                <a:cs typeface="Times New Roman" panose="02020603050405020304" pitchFamily="18" charset="0"/>
              </a:rPr>
              <a:t>To familiarize Students with the detailed Architectures of a Central Processing Unit.</a:t>
            </a:r>
          </a:p>
          <a:p>
            <a:pPr marL="457200" lvl="0" indent="-457200" algn="just">
              <a:lnSpc>
                <a:spcPct val="150000"/>
              </a:lnSpc>
              <a:buFont typeface="+mj-lt"/>
              <a:buAutoNum type="arabicParenR"/>
            </a:pPr>
            <a:r>
              <a:rPr lang="en-US" sz="2200" dirty="0">
                <a:latin typeface="Times New Roman" panose="02020603050405020304" pitchFamily="18" charset="0"/>
                <a:cs typeface="Times New Roman" panose="02020603050405020304" pitchFamily="18" charset="0"/>
              </a:rPr>
              <a:t>Learn the different types of serial communication techniques.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txBox="1">
            <a:spLocks noGrp="1" noChangeArrowheads="1"/>
          </p:cNvSpPr>
          <p:nvPr>
            <p:ph type="title"/>
          </p:nvPr>
        </p:nvSpPr>
        <p:spPr bwMode="auto">
          <a:xfrm>
            <a:off x="710166" y="351468"/>
            <a:ext cx="11125519" cy="5355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COURSE OUTCOMES</a:t>
            </a: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lide Number Placeholder 12"/>
          <p:cNvSpPr>
            <a:spLocks noGrp="1"/>
          </p:cNvSpPr>
          <p:nvPr>
            <p:ph type="sldNum" sz="quarter" idx="12"/>
          </p:nvPr>
        </p:nvSpPr>
        <p:spPr/>
        <p:txBody>
          <a:bodyPr/>
          <a:lstStyle/>
          <a:p>
            <a:fld id="{BDCDBBEF-AA6C-4BA6-85B2-A17D7F280E38}" type="slidenum">
              <a:rPr lang="en-US" smtClean="0"/>
              <a:pPr/>
              <a:t>3</a:t>
            </a:fld>
            <a:endParaRPr lang="en-US"/>
          </a:p>
        </p:txBody>
      </p:sp>
      <p:sp>
        <p:nvSpPr>
          <p:cNvPr id="4" name="Rectangle 3"/>
          <p:cNvSpPr/>
          <p:nvPr/>
        </p:nvSpPr>
        <p:spPr>
          <a:xfrm>
            <a:off x="720497" y="1170835"/>
            <a:ext cx="8880123" cy="523220"/>
          </a:xfrm>
          <a:prstGeom prst="rect">
            <a:avLst/>
          </a:prstGeom>
        </p:spPr>
        <p:txBody>
          <a:bodyPr wrap="none">
            <a:spAutoFit/>
          </a:bodyPr>
          <a:lstStyle/>
          <a:p>
            <a:r>
              <a:rPr lang="en-IN" sz="2800" dirty="0">
                <a:latin typeface="Times New Roman" panose="02020603050405020304" pitchFamily="18" charset="0"/>
                <a:cs typeface="Times New Roman" panose="02020603050405020304" pitchFamily="18" charset="0"/>
              </a:rPr>
              <a:t>On completion of this course, the students shall be able to:-</a:t>
            </a:r>
            <a:endParaRPr lang="en-US" sz="2800" dirty="0">
              <a:latin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 xmlns:a16="http://schemas.microsoft.com/office/drawing/2014/main" id="{6A55E2FE-46B0-12E1-A9C2-7E842F64107F}"/>
              </a:ext>
            </a:extLst>
          </p:cNvPr>
          <p:cNvGraphicFramePr>
            <a:graphicFrameLocks noGrp="1"/>
          </p:cNvGraphicFramePr>
          <p:nvPr>
            <p:extLst>
              <p:ext uri="{D42A27DB-BD31-4B8C-83A1-F6EECF244321}">
                <p14:modId xmlns="" xmlns:p14="http://schemas.microsoft.com/office/powerpoint/2010/main" val="1903080553"/>
              </p:ext>
            </p:extLst>
          </p:nvPr>
        </p:nvGraphicFramePr>
        <p:xfrm>
          <a:off x="393700" y="1725805"/>
          <a:ext cx="11441985" cy="5058055"/>
        </p:xfrm>
        <a:graphic>
          <a:graphicData uri="http://schemas.openxmlformats.org/drawingml/2006/table">
            <a:tbl>
              <a:tblPr>
                <a:tableStyleId>{3C2FFA5D-87B4-456A-9821-1D502468CF0F}</a:tableStyleId>
              </a:tblPr>
              <a:tblGrid>
                <a:gridCol w="582270">
                  <a:extLst>
                    <a:ext uri="{9D8B030D-6E8A-4147-A177-3AD203B41FA5}">
                      <a16:colId xmlns="" xmlns:a16="http://schemas.microsoft.com/office/drawing/2014/main" val="663356417"/>
                    </a:ext>
                  </a:extLst>
                </a:gridCol>
                <a:gridCol w="10859715">
                  <a:extLst>
                    <a:ext uri="{9D8B030D-6E8A-4147-A177-3AD203B41FA5}">
                      <a16:colId xmlns="" xmlns:a16="http://schemas.microsoft.com/office/drawing/2014/main" val="784375743"/>
                    </a:ext>
                  </a:extLst>
                </a:gridCol>
              </a:tblGrid>
              <a:tr h="725904">
                <a:tc>
                  <a:txBody>
                    <a:bodyPr/>
                    <a:lstStyle/>
                    <a:p>
                      <a:pPr algn="l" fontAlgn="ctr">
                        <a:lnSpc>
                          <a:spcPct val="150000"/>
                        </a:lnSpc>
                      </a:pPr>
                      <a:r>
                        <a:rPr lang="en-IN" sz="1800" b="1" u="none" strike="noStrike" dirty="0">
                          <a:effectLst/>
                          <a:latin typeface="Times New Roman" panose="02020603050405020304" pitchFamily="18" charset="0"/>
                          <a:cs typeface="Times New Roman" panose="02020603050405020304" pitchFamily="18" charset="0"/>
                        </a:rPr>
                        <a:t>CO1</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5771" marR="5771" marT="5771" marB="0" anchor="ctr"/>
                </a:tc>
                <a:tc>
                  <a:txBody>
                    <a:bodyPr/>
                    <a:lstStyle/>
                    <a:p>
                      <a:pPr algn="l" fontAlgn="b">
                        <a:lnSpc>
                          <a:spcPct val="150000"/>
                        </a:lnSpc>
                      </a:pPr>
                      <a:r>
                        <a:rPr lang="en-US" sz="2200" u="none" strike="noStrike" dirty="0">
                          <a:effectLst/>
                          <a:latin typeface="Times New Roman" panose="02020603050405020304" pitchFamily="18" charset="0"/>
                          <a:cs typeface="Times New Roman" panose="02020603050405020304" pitchFamily="18" charset="0"/>
                        </a:rPr>
                        <a:t>Identify and interpret the basics of instruction sets and their impact on the design, organization, and functionality of various functional units of a computer comparable to the CPU, memory organization, I/O organization, and parallel processors.</a:t>
                      </a:r>
                      <a:endParaRPr lang="en-US" sz="2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771" marR="5771" marT="5771" marB="0" anchor="b"/>
                </a:tc>
                <a:extLst>
                  <a:ext uri="{0D108BD9-81ED-4DB2-BD59-A6C34878D82A}">
                    <a16:rowId xmlns="" xmlns:a16="http://schemas.microsoft.com/office/drawing/2014/main" val="1868506522"/>
                  </a:ext>
                </a:extLst>
              </a:tr>
              <a:tr h="369319">
                <a:tc>
                  <a:txBody>
                    <a:bodyPr/>
                    <a:lstStyle/>
                    <a:p>
                      <a:pPr algn="l" fontAlgn="ctr">
                        <a:lnSpc>
                          <a:spcPct val="150000"/>
                        </a:lnSpc>
                      </a:pPr>
                      <a:r>
                        <a:rPr lang="en-IN" sz="1800" b="1" u="none" strike="noStrike" dirty="0">
                          <a:effectLst/>
                          <a:latin typeface="Times New Roman" panose="02020603050405020304" pitchFamily="18" charset="0"/>
                          <a:cs typeface="Times New Roman" panose="02020603050405020304" pitchFamily="18" charset="0"/>
                        </a:rPr>
                        <a:t>CO2</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5771" marR="5771" marT="5771" marB="0" anchor="ctr"/>
                </a:tc>
                <a:tc>
                  <a:txBody>
                    <a:bodyPr/>
                    <a:lstStyle/>
                    <a:p>
                      <a:pPr algn="l" fontAlgn="b">
                        <a:lnSpc>
                          <a:spcPct val="150000"/>
                        </a:lnSpc>
                      </a:pPr>
                      <a:r>
                        <a:rPr lang="en-US" sz="2200" u="none" strike="noStrike" dirty="0">
                          <a:effectLst/>
                          <a:latin typeface="Times New Roman" panose="02020603050405020304" pitchFamily="18" charset="0"/>
                          <a:cs typeface="Times New Roman" panose="02020603050405020304" pitchFamily="18" charset="0"/>
                        </a:rPr>
                        <a:t>Analysis of the design of arithmetic &amp; logic unit and understanding of the fixed point and floating-point arithmetic operations.</a:t>
                      </a:r>
                      <a:endParaRPr lang="en-US" sz="2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771" marR="5771" marT="5771" marB="0" anchor="b"/>
                </a:tc>
                <a:extLst>
                  <a:ext uri="{0D108BD9-81ED-4DB2-BD59-A6C34878D82A}">
                    <a16:rowId xmlns="" xmlns:a16="http://schemas.microsoft.com/office/drawing/2014/main" val="379315392"/>
                  </a:ext>
                </a:extLst>
              </a:tr>
              <a:tr h="369319">
                <a:tc>
                  <a:txBody>
                    <a:bodyPr/>
                    <a:lstStyle/>
                    <a:p>
                      <a:pPr algn="l" fontAlgn="ctr">
                        <a:lnSpc>
                          <a:spcPct val="150000"/>
                        </a:lnSpc>
                      </a:pPr>
                      <a:r>
                        <a:rPr lang="en-IN" sz="1800" b="1" u="none" strike="noStrike" dirty="0">
                          <a:effectLst/>
                          <a:latin typeface="Times New Roman" panose="02020603050405020304" pitchFamily="18" charset="0"/>
                          <a:cs typeface="Times New Roman" panose="02020603050405020304" pitchFamily="18" charset="0"/>
                        </a:rPr>
                        <a:t>CO3</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5771" marR="5771" marT="5771" marB="0" anchor="ctr"/>
                </a:tc>
                <a:tc>
                  <a:txBody>
                    <a:bodyPr/>
                    <a:lstStyle/>
                    <a:p>
                      <a:pPr algn="l" fontAlgn="b">
                        <a:lnSpc>
                          <a:spcPct val="150000"/>
                        </a:lnSpc>
                      </a:pPr>
                      <a:r>
                        <a:rPr lang="en-US" sz="2200" u="none" strike="noStrike">
                          <a:effectLst/>
                          <a:latin typeface="Times New Roman" panose="02020603050405020304" pitchFamily="18" charset="0"/>
                          <a:cs typeface="Times New Roman" panose="02020603050405020304" pitchFamily="18" charset="0"/>
                        </a:rPr>
                        <a:t>Relate cost performance and design trade-offs in designing and constructing a computer processor which includes memory.</a:t>
                      </a:r>
                      <a:endParaRPr lang="en-US" sz="2200" b="0" i="0" u="none" strike="noStrike">
                        <a:solidFill>
                          <a:srgbClr val="000000"/>
                        </a:solidFill>
                        <a:effectLst/>
                        <a:latin typeface="Times New Roman" panose="02020603050405020304" pitchFamily="18" charset="0"/>
                        <a:cs typeface="Times New Roman" panose="02020603050405020304" pitchFamily="18" charset="0"/>
                      </a:endParaRPr>
                    </a:p>
                  </a:txBody>
                  <a:tcPr marL="5771" marR="5771" marT="5771" marB="0" anchor="b"/>
                </a:tc>
                <a:extLst>
                  <a:ext uri="{0D108BD9-81ED-4DB2-BD59-A6C34878D82A}">
                    <a16:rowId xmlns="" xmlns:a16="http://schemas.microsoft.com/office/drawing/2014/main" val="145006100"/>
                  </a:ext>
                </a:extLst>
              </a:tr>
              <a:tr h="369319">
                <a:tc>
                  <a:txBody>
                    <a:bodyPr/>
                    <a:lstStyle/>
                    <a:p>
                      <a:pPr algn="l" fontAlgn="ctr">
                        <a:lnSpc>
                          <a:spcPct val="150000"/>
                        </a:lnSpc>
                      </a:pPr>
                      <a:r>
                        <a:rPr lang="en-IN" sz="1800" b="1" u="none" strike="noStrike" dirty="0">
                          <a:effectLst/>
                          <a:latin typeface="Times New Roman" panose="02020603050405020304" pitchFamily="18" charset="0"/>
                          <a:cs typeface="Times New Roman" panose="02020603050405020304" pitchFamily="18" charset="0"/>
                        </a:rPr>
                        <a:t>CO4</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5771" marR="5771" marT="5771" marB="0" anchor="ctr"/>
                </a:tc>
                <a:tc>
                  <a:txBody>
                    <a:bodyPr/>
                    <a:lstStyle/>
                    <a:p>
                      <a:pPr algn="l" fontAlgn="b">
                        <a:lnSpc>
                          <a:spcPct val="150000"/>
                        </a:lnSpc>
                      </a:pPr>
                      <a:r>
                        <a:rPr lang="en-US" sz="2200" u="none" strike="noStrike" dirty="0">
                          <a:effectLst/>
                          <a:latin typeface="Times New Roman" panose="02020603050405020304" pitchFamily="18" charset="0"/>
                          <a:cs typeface="Times New Roman" panose="02020603050405020304" pitchFamily="18" charset="0"/>
                        </a:rPr>
                        <a:t>Understanding the different ways of communicating with I/O devices and standard I/O interfaces.</a:t>
                      </a:r>
                      <a:endParaRPr lang="en-US" sz="2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771" marR="5771" marT="5771" marB="0" anchor="b"/>
                </a:tc>
                <a:extLst>
                  <a:ext uri="{0D108BD9-81ED-4DB2-BD59-A6C34878D82A}">
                    <a16:rowId xmlns="" xmlns:a16="http://schemas.microsoft.com/office/drawing/2014/main" val="1597029053"/>
                  </a:ext>
                </a:extLst>
              </a:tr>
              <a:tr h="369319">
                <a:tc>
                  <a:txBody>
                    <a:bodyPr/>
                    <a:lstStyle/>
                    <a:p>
                      <a:pPr algn="l" fontAlgn="ctr">
                        <a:lnSpc>
                          <a:spcPct val="150000"/>
                        </a:lnSpc>
                      </a:pPr>
                      <a:r>
                        <a:rPr lang="en-IN" sz="1800" b="1" u="none" strike="noStrike" dirty="0">
                          <a:effectLst/>
                          <a:latin typeface="Times New Roman" panose="02020603050405020304" pitchFamily="18" charset="0"/>
                          <a:cs typeface="Times New Roman" panose="02020603050405020304" pitchFamily="18" charset="0"/>
                        </a:rPr>
                        <a:t>CO5</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5771" marR="5771" marT="5771" marB="0" anchor="ctr"/>
                </a:tc>
                <a:tc>
                  <a:txBody>
                    <a:bodyPr/>
                    <a:lstStyle/>
                    <a:p>
                      <a:pPr algn="l" fontAlgn="b">
                        <a:lnSpc>
                          <a:spcPct val="150000"/>
                        </a:lnSpc>
                      </a:pPr>
                      <a:r>
                        <a:rPr lang="en-US" sz="2200" u="none" strike="noStrike" dirty="0">
                          <a:effectLst/>
                          <a:latin typeface="Times New Roman" panose="02020603050405020304" pitchFamily="18" charset="0"/>
                          <a:cs typeface="Times New Roman" panose="02020603050405020304" pitchFamily="18" charset="0"/>
                        </a:rPr>
                        <a:t>Implementation of control unit techniques and the concept of Pipelining.</a:t>
                      </a:r>
                      <a:endParaRPr lang="en-US" sz="2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771" marR="5771" marT="5771" marB="0" anchor="b"/>
                </a:tc>
                <a:extLst>
                  <a:ext uri="{0D108BD9-81ED-4DB2-BD59-A6C34878D82A}">
                    <a16:rowId xmlns="" xmlns:a16="http://schemas.microsoft.com/office/drawing/2014/main" val="511960307"/>
                  </a:ext>
                </a:extLst>
              </a:tr>
            </a:tbl>
          </a:graphicData>
        </a:graphic>
      </p:graphicFrame>
    </p:spTree>
    <p:extLst>
      <p:ext uri="{BB962C8B-B14F-4D97-AF65-F5344CB8AC3E}">
        <p14:creationId xmlns="" xmlns:p14="http://schemas.microsoft.com/office/powerpoint/2010/main" val="40180973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291" y="94670"/>
            <a:ext cx="10515600" cy="858368"/>
          </a:xfrm>
        </p:spPr>
        <p:txBody>
          <a:bodyPr>
            <a:normAutofit/>
          </a:bodyPr>
          <a:lstStyle/>
          <a:p>
            <a:pPr algn="ctr"/>
            <a:r>
              <a:rPr lang="en-IN" sz="3200" b="1" dirty="0">
                <a:latin typeface="Times New Roman" pitchFamily="18" charset="0"/>
                <a:cs typeface="Times New Roman" pitchFamily="18" charset="0"/>
              </a:rPr>
              <a:t>Unit-1 Syllabus</a:t>
            </a:r>
          </a:p>
        </p:txBody>
      </p:sp>
      <p:sp>
        <p:nvSpPr>
          <p:cNvPr id="6" name="Slide Number Placeholder 5"/>
          <p:cNvSpPr>
            <a:spLocks noGrp="1"/>
          </p:cNvSpPr>
          <p:nvPr>
            <p:ph type="sldNum" sz="quarter" idx="12"/>
          </p:nvPr>
        </p:nvSpPr>
        <p:spPr/>
        <p:txBody>
          <a:bodyPr/>
          <a:lstStyle/>
          <a:p>
            <a:fld id="{BDCDBBEF-AA6C-4BA6-85B2-A17D7F280E38}" type="slidenum">
              <a:rPr lang="en-US" smtClean="0"/>
              <a:pPr/>
              <a:t>4</a:t>
            </a:fld>
            <a:endParaRPr lang="en-US"/>
          </a:p>
        </p:txBody>
      </p:sp>
      <p:graphicFrame>
        <p:nvGraphicFramePr>
          <p:cNvPr id="3" name="Table 2">
            <a:extLst>
              <a:ext uri="{FF2B5EF4-FFF2-40B4-BE49-F238E27FC236}">
                <a16:creationId xmlns="" xmlns:a16="http://schemas.microsoft.com/office/drawing/2014/main" id="{AB88C6BA-9C8E-A4B6-5A59-14D1FADB7BF2}"/>
              </a:ext>
            </a:extLst>
          </p:cNvPr>
          <p:cNvGraphicFramePr>
            <a:graphicFrameLocks noGrp="1"/>
          </p:cNvGraphicFramePr>
          <p:nvPr>
            <p:extLst>
              <p:ext uri="{D42A27DB-BD31-4B8C-83A1-F6EECF244321}">
                <p14:modId xmlns="" xmlns:p14="http://schemas.microsoft.com/office/powerpoint/2010/main" val="3037728848"/>
              </p:ext>
            </p:extLst>
          </p:nvPr>
        </p:nvGraphicFramePr>
        <p:xfrm>
          <a:off x="838200" y="953038"/>
          <a:ext cx="10515601" cy="5359903"/>
        </p:xfrm>
        <a:graphic>
          <a:graphicData uri="http://schemas.openxmlformats.org/drawingml/2006/table">
            <a:tbl>
              <a:tblPr bandRow="1">
                <a:tableStyleId>{5940675A-B579-460E-94D1-54222C63F5DA}</a:tableStyleId>
              </a:tblPr>
              <a:tblGrid>
                <a:gridCol w="1706217">
                  <a:extLst>
                    <a:ext uri="{9D8B030D-6E8A-4147-A177-3AD203B41FA5}">
                      <a16:colId xmlns="" xmlns:a16="http://schemas.microsoft.com/office/drawing/2014/main" val="4104788180"/>
                    </a:ext>
                  </a:extLst>
                </a:gridCol>
                <a:gridCol w="5867119">
                  <a:extLst>
                    <a:ext uri="{9D8B030D-6E8A-4147-A177-3AD203B41FA5}">
                      <a16:colId xmlns="" xmlns:a16="http://schemas.microsoft.com/office/drawing/2014/main" val="794039158"/>
                    </a:ext>
                  </a:extLst>
                </a:gridCol>
                <a:gridCol w="2942265">
                  <a:extLst>
                    <a:ext uri="{9D8B030D-6E8A-4147-A177-3AD203B41FA5}">
                      <a16:colId xmlns="" xmlns:a16="http://schemas.microsoft.com/office/drawing/2014/main" val="3647420426"/>
                    </a:ext>
                  </a:extLst>
                </a:gridCol>
              </a:tblGrid>
              <a:tr h="666741">
                <a:tc>
                  <a:txBody>
                    <a:bodyPr/>
                    <a:lstStyle/>
                    <a:p>
                      <a:pPr marR="53975" algn="ctr">
                        <a:lnSpc>
                          <a:spcPct val="107000"/>
                        </a:lnSpc>
                        <a:spcAft>
                          <a:spcPts val="800"/>
                        </a:spcAft>
                      </a:pPr>
                      <a:r>
                        <a:rPr lang="en-IN" sz="2000" b="1" dirty="0">
                          <a:effectLst/>
                          <a:latin typeface="Times New Roman" panose="02020603050405020304" pitchFamily="18" charset="0"/>
                          <a:cs typeface="Times New Roman" panose="02020603050405020304" pitchFamily="18" charset="0"/>
                        </a:rPr>
                        <a:t>Unit-1</a:t>
                      </a:r>
                      <a:endParaRPr lang="en-IN" sz="20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4177" marR="64177" marT="0" marB="0" anchor="ctr"/>
                </a:tc>
                <a:tc>
                  <a:txBody>
                    <a:bodyPr/>
                    <a:lstStyle/>
                    <a:p>
                      <a:pPr marR="53975" algn="ctr">
                        <a:lnSpc>
                          <a:spcPct val="107000"/>
                        </a:lnSpc>
                        <a:spcAft>
                          <a:spcPts val="800"/>
                        </a:spcAft>
                      </a:pPr>
                      <a:r>
                        <a:rPr lang="en-IN" sz="2000" b="1" dirty="0">
                          <a:effectLst/>
                          <a:latin typeface="Times New Roman" panose="02020603050405020304" pitchFamily="18" charset="0"/>
                          <a:cs typeface="Times New Roman" panose="02020603050405020304" pitchFamily="18" charset="0"/>
                        </a:rPr>
                        <a:t>Basic Organization of Computer</a:t>
                      </a:r>
                      <a:endParaRPr lang="en-IN" sz="20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4177" marR="64177" marT="0" marB="0" anchor="ctr"/>
                </a:tc>
                <a:tc>
                  <a:txBody>
                    <a:bodyPr/>
                    <a:lstStyle/>
                    <a:p>
                      <a:pPr marR="53975" algn="just">
                        <a:lnSpc>
                          <a:spcPct val="107000"/>
                        </a:lnSpc>
                        <a:spcAft>
                          <a:spcPts val="800"/>
                        </a:spcAft>
                      </a:pPr>
                      <a:r>
                        <a:rPr lang="en-IN" sz="2000" b="1" dirty="0">
                          <a:effectLst/>
                          <a:latin typeface="Times New Roman" panose="02020603050405020304" pitchFamily="18" charset="0"/>
                          <a:cs typeface="Times New Roman" panose="02020603050405020304" pitchFamily="18" charset="0"/>
                        </a:rPr>
                        <a:t>Contact Hours</a:t>
                      </a:r>
                      <a:r>
                        <a:rPr lang="en-IN" sz="2000" b="1">
                          <a:effectLst/>
                          <a:latin typeface="Times New Roman" panose="02020603050405020304" pitchFamily="18" charset="0"/>
                          <a:cs typeface="Times New Roman" panose="02020603050405020304" pitchFamily="18" charset="0"/>
                        </a:rPr>
                        <a:t>:15 </a:t>
                      </a:r>
                      <a:r>
                        <a:rPr lang="en-IN" sz="2000" b="1" dirty="0">
                          <a:effectLst/>
                          <a:latin typeface="Times New Roman" panose="02020603050405020304" pitchFamily="18" charset="0"/>
                          <a:cs typeface="Times New Roman" panose="02020603050405020304" pitchFamily="18" charset="0"/>
                        </a:rPr>
                        <a:t>hours</a:t>
                      </a:r>
                      <a:endParaRPr lang="en-IN" sz="20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4177" marR="64177" marT="0" marB="0" anchor="ctr"/>
                </a:tc>
                <a:extLst>
                  <a:ext uri="{0D108BD9-81ED-4DB2-BD59-A6C34878D82A}">
                    <a16:rowId xmlns="" xmlns:a16="http://schemas.microsoft.com/office/drawing/2014/main" val="1236352220"/>
                  </a:ext>
                </a:extLst>
              </a:tr>
              <a:tr h="666741">
                <a:tc>
                  <a:txBody>
                    <a:bodyPr/>
                    <a:lstStyle/>
                    <a:p>
                      <a:pPr marR="53975" algn="just">
                        <a:lnSpc>
                          <a:spcPct val="107000"/>
                        </a:lnSpc>
                        <a:spcAft>
                          <a:spcPts val="800"/>
                        </a:spcAft>
                      </a:pPr>
                      <a:r>
                        <a:rPr lang="en-IN" sz="2000" b="1" dirty="0">
                          <a:effectLst/>
                          <a:latin typeface="Times New Roman" panose="02020603050405020304" pitchFamily="18" charset="0"/>
                          <a:cs typeface="Times New Roman" panose="02020603050405020304" pitchFamily="18" charset="0"/>
                        </a:rPr>
                        <a:t>Data representation</a:t>
                      </a:r>
                      <a:endParaRPr lang="en-IN" sz="20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4177" marR="64177" marT="0" marB="0" anchor="ctr"/>
                </a:tc>
                <a:tc gridSpan="2">
                  <a:txBody>
                    <a:bodyPr/>
                    <a:lstStyle/>
                    <a:p>
                      <a:pPr algn="just">
                        <a:lnSpc>
                          <a:spcPct val="107000"/>
                        </a:lnSpc>
                        <a:spcAft>
                          <a:spcPts val="800"/>
                        </a:spcAft>
                      </a:pPr>
                      <a:r>
                        <a:rPr lang="en-IN" sz="2000" dirty="0">
                          <a:effectLst/>
                          <a:latin typeface="Times New Roman" panose="02020603050405020304" pitchFamily="18" charset="0"/>
                          <a:cs typeface="Times New Roman" panose="02020603050405020304" pitchFamily="18" charset="0"/>
                        </a:rPr>
                        <a:t>Signed number representation, fixed and floating-point representations, character representation. </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4177" marR="64177" marT="0" marB="0" anchor="ctr"/>
                </a:tc>
                <a:tc hMerge="1">
                  <a:txBody>
                    <a:bodyPr/>
                    <a:lstStyle/>
                    <a:p>
                      <a:endParaRPr lang="en-IN"/>
                    </a:p>
                  </a:txBody>
                  <a:tcPr/>
                </a:tc>
                <a:extLst>
                  <a:ext uri="{0D108BD9-81ED-4DB2-BD59-A6C34878D82A}">
                    <a16:rowId xmlns="" xmlns:a16="http://schemas.microsoft.com/office/drawing/2014/main" val="823266977"/>
                  </a:ext>
                </a:extLst>
              </a:tr>
              <a:tr h="666741">
                <a:tc>
                  <a:txBody>
                    <a:bodyPr/>
                    <a:lstStyle/>
                    <a:p>
                      <a:pPr marR="53975" algn="just">
                        <a:lnSpc>
                          <a:spcPct val="107000"/>
                        </a:lnSpc>
                        <a:spcAft>
                          <a:spcPts val="800"/>
                        </a:spcAft>
                      </a:pPr>
                      <a:r>
                        <a:rPr lang="en-IN" sz="2000" b="1" dirty="0">
                          <a:effectLst/>
                          <a:latin typeface="Times New Roman" panose="02020603050405020304" pitchFamily="18" charset="0"/>
                          <a:cs typeface="Times New Roman" panose="02020603050405020304" pitchFamily="18" charset="0"/>
                        </a:rPr>
                        <a:t>Functional blocks of a computer</a:t>
                      </a:r>
                      <a:endParaRPr lang="en-IN" sz="20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4177" marR="64177" marT="0" marB="0" anchor="ctr"/>
                </a:tc>
                <a:tc gridSpan="2">
                  <a:txBody>
                    <a:bodyPr/>
                    <a:lstStyle/>
                    <a:p>
                      <a:pPr algn="just">
                        <a:lnSpc>
                          <a:spcPct val="107000"/>
                        </a:lnSpc>
                        <a:spcAft>
                          <a:spcPts val="800"/>
                        </a:spcAft>
                      </a:pPr>
                      <a:r>
                        <a:rPr lang="en-IN" sz="2000" dirty="0">
                          <a:effectLst/>
                          <a:latin typeface="Times New Roman" panose="02020603050405020304" pitchFamily="18" charset="0"/>
                          <a:cs typeface="Times New Roman" panose="02020603050405020304" pitchFamily="18" charset="0"/>
                        </a:rPr>
                        <a:t>CPU, memory, input-output subsystems, control unit.</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4177" marR="64177" marT="0" marB="0" anchor="ctr"/>
                </a:tc>
                <a:tc hMerge="1">
                  <a:txBody>
                    <a:bodyPr/>
                    <a:lstStyle/>
                    <a:p>
                      <a:endParaRPr lang="en-IN"/>
                    </a:p>
                  </a:txBody>
                  <a:tcPr/>
                </a:tc>
                <a:extLst>
                  <a:ext uri="{0D108BD9-81ED-4DB2-BD59-A6C34878D82A}">
                    <a16:rowId xmlns="" xmlns:a16="http://schemas.microsoft.com/office/drawing/2014/main" val="1349069549"/>
                  </a:ext>
                </a:extLst>
              </a:tr>
              <a:tr h="1368173">
                <a:tc>
                  <a:txBody>
                    <a:bodyPr/>
                    <a:lstStyle/>
                    <a:p>
                      <a:pPr marR="53975" algn="just">
                        <a:lnSpc>
                          <a:spcPct val="107000"/>
                        </a:lnSpc>
                        <a:spcAft>
                          <a:spcPts val="800"/>
                        </a:spcAft>
                      </a:pPr>
                      <a:r>
                        <a:rPr lang="en-IN" sz="2000" b="1" dirty="0">
                          <a:effectLst/>
                          <a:latin typeface="Times New Roman" panose="02020603050405020304" pitchFamily="18" charset="0"/>
                          <a:cs typeface="Times New Roman" panose="02020603050405020304" pitchFamily="18" charset="0"/>
                        </a:rPr>
                        <a:t>Instruction set architecture of a CPU:</a:t>
                      </a:r>
                      <a:endParaRPr lang="en-IN" sz="20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4177" marR="64177" marT="0" marB="0" anchor="ctr"/>
                </a:tc>
                <a:tc gridSpan="2">
                  <a:txBody>
                    <a:bodyPr/>
                    <a:lstStyle/>
                    <a:p>
                      <a:pPr algn="just">
                        <a:lnSpc>
                          <a:spcPct val="107000"/>
                        </a:lnSpc>
                        <a:spcAft>
                          <a:spcPts val="800"/>
                        </a:spcAft>
                      </a:pPr>
                      <a:r>
                        <a:rPr lang="en-IN" sz="2000">
                          <a:effectLst/>
                          <a:latin typeface="Times New Roman" panose="02020603050405020304" pitchFamily="18" charset="0"/>
                          <a:cs typeface="Times New Roman" panose="02020603050405020304" pitchFamily="18" charset="0"/>
                        </a:rPr>
                        <a:t>Registers, instruction execution cycle, RTL interpretation of instructions, addressing modes, instruction set. Outlining instruction sets of some common CPUs.</a:t>
                      </a:r>
                      <a:endParaRPr lang="en-IN"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4177" marR="64177" marT="0" marB="0" anchor="ctr"/>
                </a:tc>
                <a:tc hMerge="1">
                  <a:txBody>
                    <a:bodyPr/>
                    <a:lstStyle/>
                    <a:p>
                      <a:endParaRPr lang="en-IN"/>
                    </a:p>
                  </a:txBody>
                  <a:tcPr/>
                </a:tc>
                <a:extLst>
                  <a:ext uri="{0D108BD9-81ED-4DB2-BD59-A6C34878D82A}">
                    <a16:rowId xmlns="" xmlns:a16="http://schemas.microsoft.com/office/drawing/2014/main" val="560039952"/>
                  </a:ext>
                </a:extLst>
              </a:tr>
              <a:tr h="1368173">
                <a:tc>
                  <a:txBody>
                    <a:bodyPr/>
                    <a:lstStyle/>
                    <a:p>
                      <a:pPr marR="53975" algn="just">
                        <a:lnSpc>
                          <a:spcPct val="107000"/>
                        </a:lnSpc>
                        <a:spcAft>
                          <a:spcPts val="800"/>
                        </a:spcAft>
                      </a:pPr>
                      <a:r>
                        <a:rPr lang="en-IN" sz="2000" b="1" dirty="0">
                          <a:effectLst/>
                          <a:latin typeface="Times New Roman" panose="02020603050405020304" pitchFamily="18" charset="0"/>
                          <a:cs typeface="Times New Roman" panose="02020603050405020304" pitchFamily="18" charset="0"/>
                        </a:rPr>
                        <a:t>Computer arithmetic</a:t>
                      </a:r>
                      <a:endParaRPr lang="en-IN" sz="20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4177" marR="64177" marT="0" marB="0" anchor="ctr"/>
                </a:tc>
                <a:tc gridSpan="2">
                  <a:txBody>
                    <a:bodyPr/>
                    <a:lstStyle/>
                    <a:p>
                      <a:pPr algn="just">
                        <a:lnSpc>
                          <a:spcPct val="107000"/>
                        </a:lnSpc>
                        <a:spcAft>
                          <a:spcPts val="800"/>
                        </a:spcAft>
                      </a:pPr>
                      <a:r>
                        <a:rPr lang="en-IN" sz="2000" dirty="0">
                          <a:effectLst/>
                          <a:latin typeface="Times New Roman" panose="02020603050405020304" pitchFamily="18" charset="0"/>
                          <a:cs typeface="Times New Roman" panose="02020603050405020304" pitchFamily="18" charset="0"/>
                        </a:rPr>
                        <a:t>Integer addition and subtraction, ripple carry adder, carry look-ahead adder, etc. multiplication – shift-and-add, Booth multiplier, carry save multiplier, etc. Division restoring and non-restoring techniques, floating point arithmetic, IEEE 754 format.</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4177" marR="64177" marT="0" marB="0" anchor="ctr"/>
                </a:tc>
                <a:tc hMerge="1">
                  <a:txBody>
                    <a:bodyPr/>
                    <a:lstStyle/>
                    <a:p>
                      <a:endParaRPr lang="en-IN"/>
                    </a:p>
                  </a:txBody>
                  <a:tcPr/>
                </a:tc>
                <a:extLst>
                  <a:ext uri="{0D108BD9-81ED-4DB2-BD59-A6C34878D82A}">
                    <a16:rowId xmlns="" xmlns:a16="http://schemas.microsoft.com/office/drawing/2014/main" val="3856858209"/>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4446" y="3082487"/>
            <a:ext cx="5894293" cy="3461747"/>
          </a:xfrm>
        </p:spPr>
        <p:txBody>
          <a:bodyPr>
            <a:noAutofit/>
          </a:bodyPr>
          <a:lstStyle/>
          <a:p>
            <a:pPr algn="just">
              <a:lnSpc>
                <a:spcPct val="12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CPU is installed or inserted into a CPU socket located on the motherboard. Furthermore, it is provided with a heat sink to absorb and dissipate heat to keep the CPU cool and functioning smoothly. It has subunits.</a:t>
            </a:r>
          </a:p>
          <a:p>
            <a:pPr marL="447675" algn="just">
              <a:lnSpc>
                <a:spcPct val="100000"/>
              </a:lnSpc>
            </a:pPr>
            <a:r>
              <a:rPr lang="en-US" sz="2000" dirty="0">
                <a:latin typeface="Times New Roman" panose="02020603050405020304" pitchFamily="18" charset="0"/>
                <a:cs typeface="Times New Roman" panose="02020603050405020304" pitchFamily="18" charset="0"/>
              </a:rPr>
              <a:t>CU(Control Unit)</a:t>
            </a:r>
          </a:p>
          <a:p>
            <a:pPr marL="447675" algn="just">
              <a:lnSpc>
                <a:spcPct val="100000"/>
              </a:lnSpc>
            </a:pPr>
            <a:r>
              <a:rPr lang="en-US" sz="2000" dirty="0">
                <a:latin typeface="Times New Roman" panose="02020603050405020304" pitchFamily="18" charset="0"/>
                <a:cs typeface="Times New Roman" panose="02020603050405020304" pitchFamily="18" charset="0"/>
              </a:rPr>
              <a:t>ALU(Arithmetic &amp; logical Unit) </a:t>
            </a:r>
          </a:p>
          <a:p>
            <a:pPr marL="447675" algn="just">
              <a:lnSpc>
                <a:spcPct val="100000"/>
              </a:lnSpc>
            </a:pPr>
            <a:r>
              <a:rPr lang="en-US" sz="2000" dirty="0">
                <a:latin typeface="Times New Roman" panose="02020603050405020304" pitchFamily="18" charset="0"/>
                <a:cs typeface="Times New Roman" panose="02020603050405020304" pitchFamily="18" charset="0"/>
              </a:rPr>
              <a:t>Registers</a:t>
            </a:r>
          </a:p>
          <a:p>
            <a:pPr marL="447675" algn="just">
              <a:lnSpc>
                <a:spcPct val="100000"/>
              </a:lnSpc>
            </a:pPr>
            <a:r>
              <a:rPr lang="en-US" sz="2000" dirty="0">
                <a:latin typeface="Times New Roman" panose="02020603050405020304" pitchFamily="18" charset="0"/>
                <a:cs typeface="Times New Roman" panose="02020603050405020304" pitchFamily="18" charset="0"/>
              </a:rPr>
              <a:t>Common System Bus Structure</a:t>
            </a:r>
          </a:p>
        </p:txBody>
      </p:sp>
      <p:sp>
        <p:nvSpPr>
          <p:cNvPr id="5" name="Slide Number Placeholder 4"/>
          <p:cNvSpPr>
            <a:spLocks noGrp="1"/>
          </p:cNvSpPr>
          <p:nvPr>
            <p:ph type="sldNum" sz="quarter" idx="12"/>
          </p:nvPr>
        </p:nvSpPr>
        <p:spPr/>
        <p:txBody>
          <a:bodyPr/>
          <a:lstStyle/>
          <a:p>
            <a:fld id="{BDCDBBEF-AA6C-4BA6-85B2-A17D7F280E38}" type="slidenum">
              <a:rPr lang="en-US" smtClean="0"/>
              <a:pPr/>
              <a:t>5</a:t>
            </a:fld>
            <a:endParaRPr lang="en-US" dirty="0"/>
          </a:p>
        </p:txBody>
      </p:sp>
      <p:sp>
        <p:nvSpPr>
          <p:cNvPr id="7" name="Title 1">
            <a:extLst>
              <a:ext uri="{FF2B5EF4-FFF2-40B4-BE49-F238E27FC236}">
                <a16:creationId xmlns="" xmlns:a16="http://schemas.microsoft.com/office/drawing/2014/main" id="{8D514A40-F4C0-3B72-92F2-CA704821BA35}"/>
              </a:ext>
            </a:extLst>
          </p:cNvPr>
          <p:cNvSpPr>
            <a:spLocks noGrp="1"/>
          </p:cNvSpPr>
          <p:nvPr>
            <p:ph type="title"/>
          </p:nvPr>
        </p:nvSpPr>
        <p:spPr>
          <a:xfrm>
            <a:off x="838199" y="94670"/>
            <a:ext cx="11183471" cy="858368"/>
          </a:xfrm>
        </p:spPr>
        <p:txBody>
          <a:bodyPr>
            <a:normAutofit/>
          </a:bodyPr>
          <a:lstStyle/>
          <a:p>
            <a:pPr algn="ctr"/>
            <a:r>
              <a:rPr lang="en-IN" sz="3200" b="1" dirty="0">
                <a:latin typeface="Times New Roman" pitchFamily="18" charset="0"/>
                <a:cs typeface="Times New Roman" pitchFamily="18" charset="0"/>
              </a:rPr>
              <a:t>Central Processing Unit</a:t>
            </a:r>
          </a:p>
        </p:txBody>
      </p:sp>
      <p:sp>
        <p:nvSpPr>
          <p:cNvPr id="6" name="Content Placeholder 2">
            <a:extLst>
              <a:ext uri="{FF2B5EF4-FFF2-40B4-BE49-F238E27FC236}">
                <a16:creationId xmlns="" xmlns:a16="http://schemas.microsoft.com/office/drawing/2014/main" id="{F27DF9B2-829B-D64C-2ACD-AD4DC9BD216A}"/>
              </a:ext>
            </a:extLst>
          </p:cNvPr>
          <p:cNvSpPr txBox="1">
            <a:spLocks/>
          </p:cNvSpPr>
          <p:nvPr/>
        </p:nvSpPr>
        <p:spPr>
          <a:xfrm>
            <a:off x="6620435" y="5996018"/>
            <a:ext cx="5056095" cy="33773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20000"/>
              </a:lnSpc>
              <a:buNone/>
            </a:pPr>
            <a:r>
              <a:rPr lang="en-US" sz="1400" b="1" dirty="0">
                <a:latin typeface="Times New Roman" panose="02020603050405020304" pitchFamily="18" charset="0"/>
                <a:cs typeface="Times New Roman" panose="02020603050405020304" pitchFamily="18" charset="0"/>
              </a:rPr>
              <a:t>Figure: Block Diagram of Computer of Digital Computer</a:t>
            </a:r>
          </a:p>
          <a:p>
            <a:pPr marL="0" indent="0" algn="ctr">
              <a:lnSpc>
                <a:spcPct val="120000"/>
              </a:lnSpc>
              <a:buNone/>
            </a:pPr>
            <a:endParaRPr lang="en-US" sz="1400" b="1" dirty="0">
              <a:latin typeface="Times New Roman" panose="02020603050405020304" pitchFamily="18" charset="0"/>
              <a:cs typeface="Times New Roman" panose="02020603050405020304" pitchFamily="18" charset="0"/>
            </a:endParaRPr>
          </a:p>
        </p:txBody>
      </p:sp>
      <p:pic>
        <p:nvPicPr>
          <p:cNvPr id="1026" name="Picture 2" descr="Digital computer and its various components | atnyla">
            <a:extLst>
              <a:ext uri="{FF2B5EF4-FFF2-40B4-BE49-F238E27FC236}">
                <a16:creationId xmlns="" xmlns:a16="http://schemas.microsoft.com/office/drawing/2014/main" id="{30F5792E-5F68-2474-2C99-91C305CC8CB3}"/>
              </a:ext>
            </a:extLst>
          </p:cNvPr>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6297705" y="3082488"/>
            <a:ext cx="5490884" cy="2913530"/>
          </a:xfrm>
          <a:prstGeom prst="rect">
            <a:avLst/>
          </a:prstGeom>
          <a:noFill/>
          <a:extLst>
            <a:ext uri="{909E8E84-426E-40DD-AFC4-6F175D3DCCD1}">
              <a14:hiddenFill xmlns="" xmlns:a14="http://schemas.microsoft.com/office/drawing/2010/main">
                <a:solidFill>
                  <a:srgbClr val="FFFFFF"/>
                </a:solidFill>
              </a14:hiddenFill>
            </a:ext>
          </a:extLst>
        </p:spPr>
      </p:pic>
      <p:sp>
        <p:nvSpPr>
          <p:cNvPr id="2" name="Content Placeholder 2">
            <a:extLst>
              <a:ext uri="{FF2B5EF4-FFF2-40B4-BE49-F238E27FC236}">
                <a16:creationId xmlns="" xmlns:a16="http://schemas.microsoft.com/office/drawing/2014/main" id="{A04B9C3B-DE28-7658-C67A-C59F13E4D9CB}"/>
              </a:ext>
            </a:extLst>
          </p:cNvPr>
          <p:cNvSpPr txBox="1">
            <a:spLocks/>
          </p:cNvSpPr>
          <p:nvPr/>
        </p:nvSpPr>
        <p:spPr>
          <a:xfrm>
            <a:off x="403412" y="1174376"/>
            <a:ext cx="11385176" cy="204395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2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Central Processing Unit commonly known as CPU can be referred as an electronic circuitry within a computer that carries out the instructions given by a computer program by performing the basic arithmetic, logical, control and input/output (I/O) operations specified by the instructions. </a:t>
            </a:r>
          </a:p>
          <a:p>
            <a:pPr algn="just">
              <a:lnSpc>
                <a:spcPct val="12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 CPU is also called a processor, central processor, or microprocessor. It carries out all the important functions of a computer.</a:t>
            </a:r>
          </a:p>
        </p:txBody>
      </p:sp>
    </p:spTree>
    <p:extLst>
      <p:ext uri="{BB962C8B-B14F-4D97-AF65-F5344CB8AC3E}">
        <p14:creationId xmlns="" xmlns:p14="http://schemas.microsoft.com/office/powerpoint/2010/main" val="27729093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3411" y="1013012"/>
            <a:ext cx="11349317" cy="5522259"/>
          </a:xfrm>
        </p:spPr>
        <p:txBody>
          <a:bodyPr>
            <a:noAutofit/>
          </a:bodyPr>
          <a:lstStyle/>
          <a:p>
            <a:pPr algn="just">
              <a:lnSpc>
                <a:spcPct val="12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Control Unit: </a:t>
            </a:r>
            <a:r>
              <a:rPr lang="en-US" sz="2000" dirty="0">
                <a:latin typeface="Times New Roman" panose="02020603050405020304" pitchFamily="18" charset="0"/>
                <a:cs typeface="Times New Roman" panose="02020603050405020304" pitchFamily="18" charset="0"/>
              </a:rPr>
              <a:t>It is the circuitry in the control unit, which makes use of electrical signals to instruct the computer system for executing already stored instructions. It takes instructions from memory and then decodes and executes these instructions. So, it controls and coordinates the functioning of all parts of the computer. The Control Unit's main task is to maintain and regulate the flow of information across the processor. It does not take part in processing and storing data.</a:t>
            </a:r>
          </a:p>
          <a:p>
            <a:pPr algn="just">
              <a:lnSpc>
                <a:spcPct val="12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ALU: </a:t>
            </a:r>
            <a:r>
              <a:rPr lang="en-US" sz="2000" dirty="0">
                <a:latin typeface="Times New Roman" panose="02020603050405020304" pitchFamily="18" charset="0"/>
                <a:cs typeface="Times New Roman" panose="02020603050405020304" pitchFamily="18" charset="0"/>
              </a:rPr>
              <a:t>It is the arithmetic logic unit, which performs arithmetic and logical functions. Arithmetic functions include addition, subtraction, multiplication division, and comparisons. Logical functions mainly include selecting, comparing, and merging the data. A CPU may contain more than one ALU. Furthermore, ALUs can be used for maintaining timers that help run the computer.</a:t>
            </a:r>
          </a:p>
          <a:p>
            <a:pPr algn="just">
              <a:lnSpc>
                <a:spcPct val="12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Memory or Storage Unit/ Registers: </a:t>
            </a:r>
            <a:r>
              <a:rPr lang="en-US" sz="2000" dirty="0">
                <a:latin typeface="Times New Roman" panose="02020603050405020304" pitchFamily="18" charset="0"/>
                <a:cs typeface="Times New Roman" panose="02020603050405020304" pitchFamily="18" charset="0"/>
              </a:rPr>
              <a:t>It is called Random access memory (RAM). It temporarily stores data, programs, and intermediate and final results of processing. So, it acts as a temporary storage area that holds the data temporarily, which is used to run the computer.</a:t>
            </a:r>
          </a:p>
          <a:p>
            <a:pPr algn="just">
              <a:lnSpc>
                <a:spcPct val="12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Common System Bus Structure: </a:t>
            </a:r>
            <a:r>
              <a:rPr lang="en-US" sz="2000" dirty="0">
                <a:latin typeface="Times New Roman" panose="02020603050405020304" pitchFamily="18" charset="0"/>
                <a:cs typeface="Times New Roman" panose="02020603050405020304" pitchFamily="18" charset="0"/>
              </a:rPr>
              <a:t>Physical Medium used to exchange data between various components of computer is called as bus or system bus. </a:t>
            </a:r>
          </a:p>
          <a:p>
            <a:pPr marL="0" indent="0" algn="just">
              <a:lnSpc>
                <a:spcPct val="120000"/>
              </a:lnSpc>
              <a:buNone/>
            </a:pPr>
            <a:endParaRPr lang="en-US" sz="200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BDCDBBEF-AA6C-4BA6-85B2-A17D7F280E38}" type="slidenum">
              <a:rPr lang="en-US" smtClean="0"/>
              <a:pPr/>
              <a:t>6</a:t>
            </a:fld>
            <a:endParaRPr lang="en-US" dirty="0"/>
          </a:p>
        </p:txBody>
      </p:sp>
    </p:spTree>
    <p:extLst>
      <p:ext uri="{BB962C8B-B14F-4D97-AF65-F5344CB8AC3E}">
        <p14:creationId xmlns="" xmlns:p14="http://schemas.microsoft.com/office/powerpoint/2010/main" val="14533999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BDCDBBEF-AA6C-4BA6-85B2-A17D7F280E38}" type="slidenum">
              <a:rPr lang="en-US" smtClean="0"/>
              <a:pPr/>
              <a:t>7</a:t>
            </a:fld>
            <a:endParaRPr lang="en-US" dirty="0"/>
          </a:p>
        </p:txBody>
      </p:sp>
      <p:sp>
        <p:nvSpPr>
          <p:cNvPr id="7" name="Title 1">
            <a:extLst>
              <a:ext uri="{FF2B5EF4-FFF2-40B4-BE49-F238E27FC236}">
                <a16:creationId xmlns="" xmlns:a16="http://schemas.microsoft.com/office/drawing/2014/main" id="{8D514A40-F4C0-3B72-92F2-CA704821BA35}"/>
              </a:ext>
            </a:extLst>
          </p:cNvPr>
          <p:cNvSpPr>
            <a:spLocks noGrp="1"/>
          </p:cNvSpPr>
          <p:nvPr>
            <p:ph type="title"/>
          </p:nvPr>
        </p:nvSpPr>
        <p:spPr>
          <a:xfrm>
            <a:off x="838199" y="94670"/>
            <a:ext cx="11183471" cy="858368"/>
          </a:xfrm>
        </p:spPr>
        <p:txBody>
          <a:bodyPr>
            <a:normAutofit/>
          </a:bodyPr>
          <a:lstStyle/>
          <a:p>
            <a:pPr algn="ctr"/>
            <a:r>
              <a:rPr lang="en-IN" sz="3200" b="1" dirty="0">
                <a:latin typeface="Times New Roman" pitchFamily="18" charset="0"/>
                <a:cs typeface="Times New Roman" pitchFamily="18" charset="0"/>
              </a:rPr>
              <a:t>Control Unit</a:t>
            </a:r>
          </a:p>
        </p:txBody>
      </p:sp>
      <p:sp>
        <p:nvSpPr>
          <p:cNvPr id="6" name="Content Placeholder 2">
            <a:extLst>
              <a:ext uri="{FF2B5EF4-FFF2-40B4-BE49-F238E27FC236}">
                <a16:creationId xmlns="" xmlns:a16="http://schemas.microsoft.com/office/drawing/2014/main" id="{F27DF9B2-829B-D64C-2ACD-AD4DC9BD216A}"/>
              </a:ext>
            </a:extLst>
          </p:cNvPr>
          <p:cNvSpPr txBox="1">
            <a:spLocks/>
          </p:cNvSpPr>
          <p:nvPr/>
        </p:nvSpPr>
        <p:spPr>
          <a:xfrm>
            <a:off x="6759389" y="6188399"/>
            <a:ext cx="5056095" cy="33773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20000"/>
              </a:lnSpc>
              <a:buNone/>
            </a:pPr>
            <a:r>
              <a:rPr lang="en-US" sz="1400" b="1" dirty="0">
                <a:latin typeface="Times New Roman" panose="02020603050405020304" pitchFamily="18" charset="0"/>
                <a:cs typeface="Times New Roman" panose="02020603050405020304" pitchFamily="18" charset="0"/>
              </a:rPr>
              <a:t>Figure: Hardwired Control</a:t>
            </a:r>
          </a:p>
        </p:txBody>
      </p:sp>
      <p:sp>
        <p:nvSpPr>
          <p:cNvPr id="2" name="Content Placeholder 2">
            <a:extLst>
              <a:ext uri="{FF2B5EF4-FFF2-40B4-BE49-F238E27FC236}">
                <a16:creationId xmlns="" xmlns:a16="http://schemas.microsoft.com/office/drawing/2014/main" id="{A04B9C3B-DE28-7658-C67A-C59F13E4D9CB}"/>
              </a:ext>
            </a:extLst>
          </p:cNvPr>
          <p:cNvSpPr txBox="1">
            <a:spLocks/>
          </p:cNvSpPr>
          <p:nvPr/>
        </p:nvSpPr>
        <p:spPr>
          <a:xfrm>
            <a:off x="403412" y="1174376"/>
            <a:ext cx="6217023" cy="518197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2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Control Unit is classified into two major categories:</a:t>
            </a:r>
          </a:p>
          <a:p>
            <a:pPr marL="447675" algn="just">
              <a:lnSpc>
                <a:spcPct val="120000"/>
              </a:lnSpc>
            </a:pPr>
            <a:r>
              <a:rPr lang="en-US" sz="2000" dirty="0">
                <a:latin typeface="Times New Roman" panose="02020603050405020304" pitchFamily="18" charset="0"/>
                <a:cs typeface="Times New Roman" panose="02020603050405020304" pitchFamily="18" charset="0"/>
              </a:rPr>
              <a:t>Hardwired Control</a:t>
            </a:r>
          </a:p>
          <a:p>
            <a:pPr marL="447675" algn="just">
              <a:lnSpc>
                <a:spcPct val="120000"/>
              </a:lnSpc>
            </a:pPr>
            <a:r>
              <a:rPr lang="en-US" sz="2000" dirty="0">
                <a:latin typeface="Times New Roman" panose="02020603050405020304" pitchFamily="18" charset="0"/>
                <a:cs typeface="Times New Roman" panose="02020603050405020304" pitchFamily="18" charset="0"/>
              </a:rPr>
              <a:t>Microprogrammed Control</a:t>
            </a:r>
          </a:p>
          <a:p>
            <a:pPr algn="just">
              <a:lnSpc>
                <a:spcPct val="12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Hardwired Control: </a:t>
            </a:r>
            <a:r>
              <a:rPr lang="en-US" sz="2000" dirty="0">
                <a:latin typeface="Times New Roman" panose="02020603050405020304" pitchFamily="18" charset="0"/>
                <a:cs typeface="Times New Roman" panose="02020603050405020304" pitchFamily="18" charset="0"/>
              </a:rPr>
              <a:t>The Hardwired Control organization involves the control logic to be implemented with gates, flip-flops, decoders, and other digital circuits. The following image shows the block diagram of a Hardwired Control organization.</a:t>
            </a:r>
          </a:p>
          <a:p>
            <a:pPr algn="just">
              <a:lnSpc>
                <a:spcPct val="12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 Hard-wired Control consists of two decoders, a sequence counter, and a number of logic gates.</a:t>
            </a:r>
          </a:p>
          <a:p>
            <a:pPr algn="just">
              <a:lnSpc>
                <a:spcPct val="12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An instruction fetched from the memory unit is placed in the instruction register (IR).</a:t>
            </a:r>
          </a:p>
        </p:txBody>
      </p:sp>
      <p:pic>
        <p:nvPicPr>
          <p:cNvPr id="2050" name="Picture 2" descr="Design of Control Unit">
            <a:extLst>
              <a:ext uri="{FF2B5EF4-FFF2-40B4-BE49-F238E27FC236}">
                <a16:creationId xmlns="" xmlns:a16="http://schemas.microsoft.com/office/drawing/2014/main" id="{A1639645-9920-4C83-45E9-973280C74649}"/>
              </a:ext>
            </a:extLst>
          </p:cNvPr>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6620435" y="1326776"/>
            <a:ext cx="5177119" cy="4905153"/>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31616334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3411" y="1013012"/>
            <a:ext cx="11349317" cy="5522259"/>
          </a:xfrm>
        </p:spPr>
        <p:txBody>
          <a:bodyPr>
            <a:noAutofit/>
          </a:bodyPr>
          <a:lstStyle/>
          <a:p>
            <a:pPr algn="just">
              <a:lnSpc>
                <a:spcPct val="12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component of an instruction register includes; I bit, the operation code, and bits 0 through 11.</a:t>
            </a:r>
          </a:p>
          <a:p>
            <a:pPr algn="just">
              <a:lnSpc>
                <a:spcPct val="12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operation code in bits 12 through 14 are coded with a 3 x 8 decoder.</a:t>
            </a:r>
          </a:p>
          <a:p>
            <a:pPr algn="just">
              <a:lnSpc>
                <a:spcPct val="12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outputs of the decoder are designated by the symbols D0 through D7.</a:t>
            </a:r>
          </a:p>
          <a:p>
            <a:pPr algn="just">
              <a:lnSpc>
                <a:spcPct val="12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operation code at bit 15 is transferred to a flip-flop designated by the symbol I.</a:t>
            </a:r>
          </a:p>
          <a:p>
            <a:pPr algn="just">
              <a:lnSpc>
                <a:spcPct val="12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operation codes from Bits 0 through 11 are applied to the control logic gates.</a:t>
            </a:r>
          </a:p>
          <a:p>
            <a:pPr algn="just">
              <a:lnSpc>
                <a:spcPct val="12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Sequence counter (SC) can count in binary from 0 through 15.</a:t>
            </a:r>
          </a:p>
          <a:p>
            <a:pPr algn="just">
              <a:lnSpc>
                <a:spcPct val="12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Micro-programmed Control: </a:t>
            </a:r>
            <a:r>
              <a:rPr lang="en-US" sz="2000" dirty="0">
                <a:latin typeface="Times New Roman" panose="02020603050405020304" pitchFamily="18" charset="0"/>
                <a:cs typeface="Times New Roman" panose="02020603050405020304" pitchFamily="18" charset="0"/>
              </a:rPr>
              <a:t>The Microprogrammed Control organization is implemented by using the programming approach. </a:t>
            </a:r>
          </a:p>
          <a:p>
            <a:pPr algn="just">
              <a:lnSpc>
                <a:spcPct val="12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In Microprogrammed Control, the micro-operations are performed by executing a program consisting of micro-instructions.</a:t>
            </a:r>
          </a:p>
          <a:p>
            <a:pPr algn="just">
              <a:lnSpc>
                <a:spcPct val="12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following image shows the block diagram of a Microprogrammed Control organization.</a:t>
            </a:r>
          </a:p>
        </p:txBody>
      </p:sp>
      <p:sp>
        <p:nvSpPr>
          <p:cNvPr id="5" name="Slide Number Placeholder 4"/>
          <p:cNvSpPr>
            <a:spLocks noGrp="1"/>
          </p:cNvSpPr>
          <p:nvPr>
            <p:ph type="sldNum" sz="quarter" idx="12"/>
          </p:nvPr>
        </p:nvSpPr>
        <p:spPr/>
        <p:txBody>
          <a:bodyPr/>
          <a:lstStyle/>
          <a:p>
            <a:fld id="{BDCDBBEF-AA6C-4BA6-85B2-A17D7F280E38}" type="slidenum">
              <a:rPr lang="en-US" smtClean="0"/>
              <a:pPr/>
              <a:t>8</a:t>
            </a:fld>
            <a:endParaRPr lang="en-US" dirty="0"/>
          </a:p>
        </p:txBody>
      </p:sp>
    </p:spTree>
    <p:extLst>
      <p:ext uri="{BB962C8B-B14F-4D97-AF65-F5344CB8AC3E}">
        <p14:creationId xmlns="" xmlns:p14="http://schemas.microsoft.com/office/powerpoint/2010/main" val="31541013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3411" y="3092824"/>
            <a:ext cx="11349317" cy="3442446"/>
          </a:xfrm>
        </p:spPr>
        <p:txBody>
          <a:bodyPr>
            <a:noAutofit/>
          </a:bodyPr>
          <a:lstStyle/>
          <a:p>
            <a:pPr algn="just">
              <a:lnSpc>
                <a:spcPct val="12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Control memory address register specifies the address of the micro-instruction.</a:t>
            </a:r>
          </a:p>
          <a:p>
            <a:pPr algn="just">
              <a:lnSpc>
                <a:spcPct val="12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Control memory is assumed to be a ROM, within which all control information is permanently stored.</a:t>
            </a:r>
          </a:p>
          <a:p>
            <a:pPr algn="just">
              <a:lnSpc>
                <a:spcPct val="12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control register holds the microinstruction fetched from the memory.</a:t>
            </a:r>
          </a:p>
          <a:p>
            <a:pPr algn="just">
              <a:lnSpc>
                <a:spcPct val="12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micro-instruction contains a control word that specifies one or more micro-operations for the data.</a:t>
            </a:r>
          </a:p>
          <a:p>
            <a:pPr algn="just">
              <a:lnSpc>
                <a:spcPct val="12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While the micro-operations are being executed, the next address is computed in the next address generator circuit and then transferred into the control address register to read the next microinstruction.</a:t>
            </a:r>
          </a:p>
          <a:p>
            <a:pPr algn="just">
              <a:lnSpc>
                <a:spcPct val="12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next address generator is often referred to as a micro-program sequencer, as it determines the address sequence that is read from control memory.</a:t>
            </a:r>
          </a:p>
        </p:txBody>
      </p:sp>
      <p:sp>
        <p:nvSpPr>
          <p:cNvPr id="5" name="Slide Number Placeholder 4"/>
          <p:cNvSpPr>
            <a:spLocks noGrp="1"/>
          </p:cNvSpPr>
          <p:nvPr>
            <p:ph type="sldNum" sz="quarter" idx="12"/>
          </p:nvPr>
        </p:nvSpPr>
        <p:spPr/>
        <p:txBody>
          <a:bodyPr/>
          <a:lstStyle/>
          <a:p>
            <a:fld id="{BDCDBBEF-AA6C-4BA6-85B2-A17D7F280E38}" type="slidenum">
              <a:rPr lang="en-US" smtClean="0"/>
              <a:pPr/>
              <a:t>9</a:t>
            </a:fld>
            <a:endParaRPr lang="en-US" dirty="0"/>
          </a:p>
        </p:txBody>
      </p:sp>
      <p:pic>
        <p:nvPicPr>
          <p:cNvPr id="2" name="Picture 2" descr="Design of Control Unit">
            <a:extLst>
              <a:ext uri="{FF2B5EF4-FFF2-40B4-BE49-F238E27FC236}">
                <a16:creationId xmlns="" xmlns:a16="http://schemas.microsoft.com/office/drawing/2014/main" id="{74E6FCC1-56BE-3C94-452E-329E61C20A35}"/>
              </a:ext>
            </a:extLst>
          </p:cNvPr>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1923907" y="1162203"/>
            <a:ext cx="8394468" cy="1792941"/>
          </a:xfrm>
          <a:prstGeom prst="rect">
            <a:avLst/>
          </a:prstGeom>
          <a:noFill/>
          <a:extLst>
            <a:ext uri="{909E8E84-426E-40DD-AFC4-6F175D3DCCD1}">
              <a14:hiddenFill xmlns="" xmlns:a14="http://schemas.microsoft.com/office/drawing/2010/main">
                <a:solidFill>
                  <a:srgbClr val="FFFFFF"/>
                </a:solidFill>
              </a14:hiddenFill>
            </a:ext>
          </a:extLst>
        </p:spPr>
      </p:pic>
      <p:sp>
        <p:nvSpPr>
          <p:cNvPr id="4" name="Content Placeholder 2">
            <a:extLst>
              <a:ext uri="{FF2B5EF4-FFF2-40B4-BE49-F238E27FC236}">
                <a16:creationId xmlns="" xmlns:a16="http://schemas.microsoft.com/office/drawing/2014/main" id="{9120BDEF-B105-9D18-F13F-E414AC14753E}"/>
              </a:ext>
            </a:extLst>
          </p:cNvPr>
          <p:cNvSpPr txBox="1">
            <a:spLocks/>
          </p:cNvSpPr>
          <p:nvPr/>
        </p:nvSpPr>
        <p:spPr>
          <a:xfrm>
            <a:off x="3593094" y="2838014"/>
            <a:ext cx="5056095" cy="33773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20000"/>
              </a:lnSpc>
              <a:buNone/>
            </a:pPr>
            <a:r>
              <a:rPr lang="en-US" sz="1400" b="1" dirty="0">
                <a:latin typeface="Times New Roman" panose="02020603050405020304" pitchFamily="18" charset="0"/>
                <a:cs typeface="Times New Roman" panose="02020603050405020304" pitchFamily="18" charset="0"/>
              </a:rPr>
              <a:t>Figure: Micro-programmed Control</a:t>
            </a:r>
          </a:p>
        </p:txBody>
      </p:sp>
    </p:spTree>
    <p:extLst>
      <p:ext uri="{BB962C8B-B14F-4D97-AF65-F5344CB8AC3E}">
        <p14:creationId xmlns="" xmlns:p14="http://schemas.microsoft.com/office/powerpoint/2010/main" val="29973579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BDCDBBEF-AA6C-4BA6-85B2-A17D7F280E38}" type="slidenum">
              <a:rPr lang="en-US" smtClean="0"/>
              <a:pPr/>
              <a:t>10</a:t>
            </a:fld>
            <a:endParaRPr lang="en-US" dirty="0"/>
          </a:p>
        </p:txBody>
      </p:sp>
      <p:sp>
        <p:nvSpPr>
          <p:cNvPr id="7" name="Title 1">
            <a:extLst>
              <a:ext uri="{FF2B5EF4-FFF2-40B4-BE49-F238E27FC236}">
                <a16:creationId xmlns="" xmlns:a16="http://schemas.microsoft.com/office/drawing/2014/main" id="{8D514A40-F4C0-3B72-92F2-CA704821BA35}"/>
              </a:ext>
            </a:extLst>
          </p:cNvPr>
          <p:cNvSpPr>
            <a:spLocks noGrp="1"/>
          </p:cNvSpPr>
          <p:nvPr>
            <p:ph type="title"/>
          </p:nvPr>
        </p:nvSpPr>
        <p:spPr>
          <a:xfrm>
            <a:off x="838199" y="94670"/>
            <a:ext cx="11183471" cy="858368"/>
          </a:xfrm>
        </p:spPr>
        <p:txBody>
          <a:bodyPr>
            <a:normAutofit/>
          </a:bodyPr>
          <a:lstStyle/>
          <a:p>
            <a:pPr algn="ctr"/>
            <a:r>
              <a:rPr lang="en-US" sz="3200" b="1" dirty="0">
                <a:latin typeface="Times New Roman" pitchFamily="18" charset="0"/>
                <a:cs typeface="Times New Roman" pitchFamily="18" charset="0"/>
              </a:rPr>
              <a:t>Arithmetic Logic Unit (ALU)</a:t>
            </a:r>
            <a:endParaRPr lang="en-IN" sz="3200" b="1" dirty="0">
              <a:latin typeface="Times New Roman" pitchFamily="18" charset="0"/>
              <a:cs typeface="Times New Roman" pitchFamily="18" charset="0"/>
            </a:endParaRPr>
          </a:p>
        </p:txBody>
      </p:sp>
      <p:sp>
        <p:nvSpPr>
          <p:cNvPr id="2" name="Content Placeholder 2">
            <a:extLst>
              <a:ext uri="{FF2B5EF4-FFF2-40B4-BE49-F238E27FC236}">
                <a16:creationId xmlns="" xmlns:a16="http://schemas.microsoft.com/office/drawing/2014/main" id="{A04B9C3B-DE28-7658-C67A-C59F13E4D9CB}"/>
              </a:ext>
            </a:extLst>
          </p:cNvPr>
          <p:cNvSpPr txBox="1">
            <a:spLocks/>
          </p:cNvSpPr>
          <p:nvPr/>
        </p:nvSpPr>
        <p:spPr>
          <a:xfrm>
            <a:off x="403412" y="1174376"/>
            <a:ext cx="11412072" cy="518197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2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Most of all the arithmetic and logical operations of a computer are executed in the ALU (Arithmetic and Logical Unit) of the processor. It performs arithmetic operations like addition, subtraction, multiplication, division and also the logical operations like AND, OR, NOT operations.</a:t>
            </a:r>
          </a:p>
          <a:p>
            <a:pPr algn="just">
              <a:lnSpc>
                <a:spcPct val="12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In the computer system, ALU is a main component of the central processing unit, which stands for arithmetic logic unit and performs arithmetic and logic operations. It is also known as an integer unit (IU) that is an integrated circuit within a CPU or GPU, which is the last component to perform calculations in the processor. </a:t>
            </a:r>
          </a:p>
          <a:p>
            <a:pPr algn="just">
              <a:lnSpc>
                <a:spcPct val="12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It has the ability to perform all processes related to arithmetic and logic operations such as addition, subtraction, and shifting operations, including Boolean comparisons (XOR, OR, AND, and NOT operations). Also, binary numbers can accomplish mathematical and bitwise operations. The arithmetic logic unit is split into AU (arithmetic unit) and LU (logic unit). The operands and code used by the ALU tell it which operations have to perform according to input data. When the ALU completes the processing of input, the information is sent to the computer's memory.</a:t>
            </a:r>
          </a:p>
        </p:txBody>
      </p:sp>
    </p:spTree>
    <p:extLst>
      <p:ext uri="{BB962C8B-B14F-4D97-AF65-F5344CB8AC3E}">
        <p14:creationId xmlns="" xmlns:p14="http://schemas.microsoft.com/office/powerpoint/2010/main" val="8712668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3411" y="1174376"/>
            <a:ext cx="11385178" cy="2545977"/>
          </a:xfrm>
        </p:spPr>
        <p:txBody>
          <a:bodyPr>
            <a:noAutofit/>
          </a:bodyPr>
          <a:lstStyle/>
          <a:p>
            <a:pPr algn="just">
              <a:lnSpc>
                <a:spcPct val="12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Except performing calculations related to addition and subtraction, ALUs handle the multiplication of two integers as they are designed to execute integer calculations; hence, its result is also an integer. </a:t>
            </a:r>
          </a:p>
          <a:p>
            <a:pPr algn="just">
              <a:lnSpc>
                <a:spcPct val="12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However, division operations commonly may not be performed by ALU as division operations may produce a result in a floating-point number. </a:t>
            </a:r>
          </a:p>
          <a:p>
            <a:pPr algn="just">
              <a:lnSpc>
                <a:spcPct val="12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Instead, the floating-point unit (FPU) usually handles the division operations; other non-integer calculations can also be performed by FPU.</a:t>
            </a:r>
          </a:p>
        </p:txBody>
      </p:sp>
      <p:sp>
        <p:nvSpPr>
          <p:cNvPr id="5" name="Slide Number Placeholder 4"/>
          <p:cNvSpPr>
            <a:spLocks noGrp="1"/>
          </p:cNvSpPr>
          <p:nvPr>
            <p:ph type="sldNum" sz="quarter" idx="12"/>
          </p:nvPr>
        </p:nvSpPr>
        <p:spPr/>
        <p:txBody>
          <a:bodyPr/>
          <a:lstStyle/>
          <a:p>
            <a:fld id="{BDCDBBEF-AA6C-4BA6-85B2-A17D7F280E38}" type="slidenum">
              <a:rPr lang="en-US" smtClean="0"/>
              <a:pPr/>
              <a:t>11</a:t>
            </a:fld>
            <a:endParaRPr lang="en-US" dirty="0"/>
          </a:p>
        </p:txBody>
      </p:sp>
      <p:sp>
        <p:nvSpPr>
          <p:cNvPr id="10" name="Content Placeholder 2">
            <a:extLst>
              <a:ext uri="{FF2B5EF4-FFF2-40B4-BE49-F238E27FC236}">
                <a16:creationId xmlns="" xmlns:a16="http://schemas.microsoft.com/office/drawing/2014/main" id="{108E91AE-E6B9-C96B-32E4-42610177F7DC}"/>
              </a:ext>
            </a:extLst>
          </p:cNvPr>
          <p:cNvSpPr txBox="1">
            <a:spLocks/>
          </p:cNvSpPr>
          <p:nvPr/>
        </p:nvSpPr>
        <p:spPr>
          <a:xfrm>
            <a:off x="6503335" y="5892963"/>
            <a:ext cx="5056095" cy="3651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20000"/>
              </a:lnSpc>
              <a:buNone/>
            </a:pPr>
            <a:r>
              <a:rPr lang="en-US" sz="1400" b="1" dirty="0">
                <a:latin typeface="Times New Roman" panose="02020603050405020304" pitchFamily="18" charset="0"/>
                <a:cs typeface="Times New Roman" panose="02020603050405020304" pitchFamily="18" charset="0"/>
              </a:rPr>
              <a:t>Figure: Machine Cycle with ALU</a:t>
            </a:r>
          </a:p>
        </p:txBody>
      </p:sp>
      <p:pic>
        <p:nvPicPr>
          <p:cNvPr id="4098" name="Picture 2" descr="What is ALU">
            <a:extLst>
              <a:ext uri="{FF2B5EF4-FFF2-40B4-BE49-F238E27FC236}">
                <a16:creationId xmlns="" xmlns:a16="http://schemas.microsoft.com/office/drawing/2014/main" id="{89CD1373-06F0-4465-3A1E-2FFBEABF0398}"/>
              </a:ext>
            </a:extLst>
          </p:cNvPr>
          <p:cNvPicPr>
            <a:picLocks noChangeAspect="1" noChangeArrowheads="1"/>
          </p:cNvPicPr>
          <p:nvPr/>
        </p:nvPicPr>
        <p:blipFill rotWithShape="1">
          <a:blip r:embed="rId2">
            <a:extLst>
              <a:ext uri="{28A0092B-C50C-407E-A947-70E740481C1C}">
                <a14:useLocalDpi xmlns="" xmlns:a14="http://schemas.microsoft.com/office/drawing/2010/main" val="0"/>
              </a:ext>
            </a:extLst>
          </a:blip>
          <a:srcRect r="8229"/>
          <a:stretch/>
        </p:blipFill>
        <p:spPr bwMode="auto">
          <a:xfrm>
            <a:off x="5590055" y="3720353"/>
            <a:ext cx="6198534" cy="2172610"/>
          </a:xfrm>
          <a:prstGeom prst="rect">
            <a:avLst/>
          </a:prstGeom>
          <a:noFill/>
          <a:extLst>
            <a:ext uri="{909E8E84-426E-40DD-AFC4-6F175D3DCCD1}">
              <a14:hiddenFill xmlns="" xmlns:a14="http://schemas.microsoft.com/office/drawing/2010/main">
                <a:solidFill>
                  <a:srgbClr val="FFFFFF"/>
                </a:solidFill>
              </a14:hiddenFill>
            </a:ext>
          </a:extLst>
        </p:spPr>
      </p:pic>
      <p:sp>
        <p:nvSpPr>
          <p:cNvPr id="2" name="Content Placeholder 2">
            <a:extLst>
              <a:ext uri="{FF2B5EF4-FFF2-40B4-BE49-F238E27FC236}">
                <a16:creationId xmlns="" xmlns:a16="http://schemas.microsoft.com/office/drawing/2014/main" id="{157C6477-58C4-5144-D79F-1D16938424C2}"/>
              </a:ext>
            </a:extLst>
          </p:cNvPr>
          <p:cNvSpPr txBox="1">
            <a:spLocks/>
          </p:cNvSpPr>
          <p:nvPr/>
        </p:nvSpPr>
        <p:spPr>
          <a:xfrm>
            <a:off x="403411" y="3633879"/>
            <a:ext cx="5186644" cy="254597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2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Although the ALU is a major component in the processor, the ALU's design and function may be different in the different processors. </a:t>
            </a:r>
          </a:p>
          <a:p>
            <a:pPr algn="just">
              <a:lnSpc>
                <a:spcPct val="12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For case, some ALUs are designed to perform only integer calculations, and some are for floating-point operations. </a:t>
            </a:r>
          </a:p>
        </p:txBody>
      </p:sp>
    </p:spTree>
    <p:extLst>
      <p:ext uri="{BB962C8B-B14F-4D97-AF65-F5344CB8AC3E}">
        <p14:creationId xmlns="" xmlns:p14="http://schemas.microsoft.com/office/powerpoint/2010/main" val="22810203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3410" y="1057836"/>
            <a:ext cx="11385177" cy="4724400"/>
          </a:xfrm>
        </p:spPr>
        <p:txBody>
          <a:bodyPr>
            <a:noAutofit/>
          </a:bodyPr>
          <a:lstStyle/>
          <a:p>
            <a:pPr algn="just">
              <a:lnSpc>
                <a:spcPct val="12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operations performed by ALU are:</a:t>
            </a:r>
          </a:p>
          <a:p>
            <a:pPr marL="447675" algn="just">
              <a:lnSpc>
                <a:spcPct val="120000"/>
              </a:lnSpc>
            </a:pPr>
            <a:r>
              <a:rPr lang="en-US" sz="2000" b="1" dirty="0">
                <a:latin typeface="Times New Roman" panose="02020603050405020304" pitchFamily="18" charset="0"/>
                <a:cs typeface="Times New Roman" panose="02020603050405020304" pitchFamily="18" charset="0"/>
              </a:rPr>
              <a:t>Logical Operations: </a:t>
            </a:r>
            <a:r>
              <a:rPr lang="en-US" sz="2000" dirty="0">
                <a:latin typeface="Times New Roman" panose="02020603050405020304" pitchFamily="18" charset="0"/>
                <a:cs typeface="Times New Roman" panose="02020603050405020304" pitchFamily="18" charset="0"/>
              </a:rPr>
              <a:t>The logical operations consist of NOR, NOT, AND, NAND, OR, XOR, and more.</a:t>
            </a:r>
          </a:p>
          <a:p>
            <a:pPr marL="447675" algn="just">
              <a:lnSpc>
                <a:spcPct val="120000"/>
              </a:lnSpc>
            </a:pPr>
            <a:r>
              <a:rPr lang="en-US" sz="2000" b="1" dirty="0">
                <a:latin typeface="Times New Roman" panose="02020603050405020304" pitchFamily="18" charset="0"/>
                <a:cs typeface="Times New Roman" panose="02020603050405020304" pitchFamily="18" charset="0"/>
              </a:rPr>
              <a:t>Bit-Shifting Operations: </a:t>
            </a:r>
            <a:r>
              <a:rPr lang="en-US" sz="2000" dirty="0">
                <a:latin typeface="Times New Roman" panose="02020603050405020304" pitchFamily="18" charset="0"/>
                <a:cs typeface="Times New Roman" panose="02020603050405020304" pitchFamily="18" charset="0"/>
              </a:rPr>
              <a:t>It is responsible for displacement in the locations of the bits to the by right or left by a certain number of places that are known as a multiplication operation.</a:t>
            </a:r>
          </a:p>
          <a:p>
            <a:pPr marL="447675" algn="just">
              <a:lnSpc>
                <a:spcPct val="120000"/>
              </a:lnSpc>
            </a:pPr>
            <a:r>
              <a:rPr lang="en-US" sz="2000" b="1" dirty="0">
                <a:latin typeface="Times New Roman" panose="02020603050405020304" pitchFamily="18" charset="0"/>
                <a:cs typeface="Times New Roman" panose="02020603050405020304" pitchFamily="18" charset="0"/>
              </a:rPr>
              <a:t>Arithmetic Operations: </a:t>
            </a:r>
            <a:r>
              <a:rPr lang="en-US" sz="2000" dirty="0">
                <a:latin typeface="Times New Roman" panose="02020603050405020304" pitchFamily="18" charset="0"/>
                <a:cs typeface="Times New Roman" panose="02020603050405020304" pitchFamily="18" charset="0"/>
              </a:rPr>
              <a:t>Although it performs multiplication and division, this refers to bit addition and subtraction. But multiplication and division operations are more costly to make. In the place of multiplication, addition can be used as a substitute and subtraction for division.</a:t>
            </a:r>
          </a:p>
        </p:txBody>
      </p:sp>
      <p:sp>
        <p:nvSpPr>
          <p:cNvPr id="5" name="Slide Number Placeholder 4"/>
          <p:cNvSpPr>
            <a:spLocks noGrp="1"/>
          </p:cNvSpPr>
          <p:nvPr>
            <p:ph type="sldNum" sz="quarter" idx="12"/>
          </p:nvPr>
        </p:nvSpPr>
        <p:spPr/>
        <p:txBody>
          <a:bodyPr/>
          <a:lstStyle/>
          <a:p>
            <a:fld id="{BDCDBBEF-AA6C-4BA6-85B2-A17D7F280E38}" type="slidenum">
              <a:rPr lang="en-US" smtClean="0"/>
              <a:pPr/>
              <a:t>12</a:t>
            </a:fld>
            <a:endParaRPr lang="en-US" dirty="0"/>
          </a:p>
        </p:txBody>
      </p:sp>
      <p:pic>
        <p:nvPicPr>
          <p:cNvPr id="6146" name="Picture 2" descr="What is ALU">
            <a:extLst>
              <a:ext uri="{FF2B5EF4-FFF2-40B4-BE49-F238E27FC236}">
                <a16:creationId xmlns="" xmlns:a16="http://schemas.microsoft.com/office/drawing/2014/main" id="{7C579CAD-4A39-5749-2CCA-07C123515DF6}"/>
              </a:ext>
            </a:extLst>
          </p:cNvPr>
          <p:cNvPicPr>
            <a:picLocks noChangeAspect="1" noChangeArrowheads="1"/>
          </p:cNvPicPr>
          <p:nvPr/>
        </p:nvPicPr>
        <p:blipFill rotWithShape="1">
          <a:blip r:embed="rId2">
            <a:extLst>
              <a:ext uri="{28A0092B-C50C-407E-A947-70E740481C1C}">
                <a14:useLocalDpi xmlns="" xmlns:a14="http://schemas.microsoft.com/office/drawing/2010/main" val="0"/>
              </a:ext>
            </a:extLst>
          </a:blip>
          <a:srcRect l="1195" t="14792" r="5239" b="11864"/>
          <a:stretch/>
        </p:blipFill>
        <p:spPr bwMode="auto">
          <a:xfrm>
            <a:off x="1532962" y="4034116"/>
            <a:ext cx="9126071" cy="2519084"/>
          </a:xfrm>
          <a:prstGeom prst="rect">
            <a:avLst/>
          </a:prstGeom>
          <a:noFill/>
          <a:extLst>
            <a:ext uri="{909E8E84-426E-40DD-AFC4-6F175D3DCCD1}">
              <a14:hiddenFill xmlns="" xmlns:a14="http://schemas.microsoft.com/office/drawing/2010/main">
                <a:solidFill>
                  <a:srgbClr val="FFFFFF"/>
                </a:solidFill>
              </a14:hiddenFill>
            </a:ext>
          </a:extLst>
        </p:spPr>
      </p:pic>
      <p:sp>
        <p:nvSpPr>
          <p:cNvPr id="2" name="Content Placeholder 2">
            <a:extLst>
              <a:ext uri="{FF2B5EF4-FFF2-40B4-BE49-F238E27FC236}">
                <a16:creationId xmlns="" xmlns:a16="http://schemas.microsoft.com/office/drawing/2014/main" id="{8CF9F8E3-9130-1D14-44DD-165DB9B64E9F}"/>
              </a:ext>
            </a:extLst>
          </p:cNvPr>
          <p:cNvSpPr txBox="1">
            <a:spLocks/>
          </p:cNvSpPr>
          <p:nvPr/>
        </p:nvSpPr>
        <p:spPr>
          <a:xfrm>
            <a:off x="3554505" y="6454775"/>
            <a:ext cx="5056095" cy="3651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20000"/>
              </a:lnSpc>
              <a:buNone/>
            </a:pPr>
            <a:r>
              <a:rPr lang="en-US" sz="1400" b="1" dirty="0">
                <a:latin typeface="Times New Roman" panose="02020603050405020304" pitchFamily="18" charset="0"/>
                <a:cs typeface="Times New Roman" panose="02020603050405020304" pitchFamily="18" charset="0"/>
              </a:rPr>
              <a:t>Figure: Signals in ALU</a:t>
            </a:r>
          </a:p>
        </p:txBody>
      </p:sp>
    </p:spTree>
    <p:extLst>
      <p:ext uri="{BB962C8B-B14F-4D97-AF65-F5344CB8AC3E}">
        <p14:creationId xmlns="" xmlns:p14="http://schemas.microsoft.com/office/powerpoint/2010/main" val="6386267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64428"/>
          </a:xfrm>
        </p:spPr>
        <p:txBody>
          <a:bodyPr/>
          <a:lstStyle/>
          <a:p>
            <a:r>
              <a:rPr lang="en-US" dirty="0" smtClean="0"/>
              <a:t>Flip flop and latch</a:t>
            </a:r>
            <a:endParaRPr lang="en-US" dirty="0"/>
          </a:p>
        </p:txBody>
      </p:sp>
      <p:sp>
        <p:nvSpPr>
          <p:cNvPr id="3" name="Content Placeholder 2"/>
          <p:cNvSpPr>
            <a:spLocks noGrp="1"/>
          </p:cNvSpPr>
          <p:nvPr>
            <p:ph idx="1"/>
          </p:nvPr>
        </p:nvSpPr>
        <p:spPr>
          <a:xfrm>
            <a:off x="838200" y="1102659"/>
            <a:ext cx="10515600" cy="5074304"/>
          </a:xfrm>
        </p:spPr>
        <p:txBody>
          <a:bodyPr>
            <a:normAutofit/>
          </a:bodyPr>
          <a:lstStyle/>
          <a:p>
            <a:r>
              <a:rPr lang="en-US" sz="2000" b="1" dirty="0" smtClean="0"/>
              <a:t>Flip-Flops</a:t>
            </a:r>
            <a:r>
              <a:rPr lang="en-US" sz="2000" dirty="0" smtClean="0"/>
              <a:t> are more reliable for precise data synchronization in synchronous systems because they operate based on clock edges, which ensures a more predictable state </a:t>
            </a:r>
            <a:r>
              <a:rPr lang="en-US" sz="2000" dirty="0" err="1" smtClean="0"/>
              <a:t>transition.</a:t>
            </a:r>
            <a:r>
              <a:rPr lang="en-US" sz="2000" b="1" dirty="0" err="1" smtClean="0"/>
              <a:t>Latches</a:t>
            </a:r>
            <a:r>
              <a:rPr lang="en-US" sz="2000" dirty="0" smtClean="0"/>
              <a:t> are simpler but more prone to instability in complex systems as they continuously respond to input changes when the enable signal is active</a:t>
            </a:r>
            <a:endParaRPr lang="en-US" sz="2000" dirty="0"/>
          </a:p>
        </p:txBody>
      </p:sp>
      <p:sp>
        <p:nvSpPr>
          <p:cNvPr id="5" name="Slide Number Placeholder 4"/>
          <p:cNvSpPr>
            <a:spLocks noGrp="1"/>
          </p:cNvSpPr>
          <p:nvPr>
            <p:ph type="sldNum" sz="quarter" idx="12"/>
          </p:nvPr>
        </p:nvSpPr>
        <p:spPr/>
        <p:txBody>
          <a:bodyPr/>
          <a:lstStyle/>
          <a:p>
            <a:fld id="{BDCDBBEF-AA6C-4BA6-85B2-A17D7F280E38}" type="slidenum">
              <a:rPr lang="en-US" smtClean="0"/>
              <a:pPr/>
              <a:t>13</a:t>
            </a:fld>
            <a:endParaRPr lang="en-US"/>
          </a:p>
        </p:txBody>
      </p:sp>
      <p:pic>
        <p:nvPicPr>
          <p:cNvPr id="51202" name="Picture 2"/>
          <p:cNvPicPr>
            <a:picLocks noChangeAspect="1" noChangeArrowheads="1"/>
          </p:cNvPicPr>
          <p:nvPr/>
        </p:nvPicPr>
        <p:blipFill>
          <a:blip r:embed="rId2"/>
          <a:srcRect/>
          <a:stretch>
            <a:fillRect/>
          </a:stretch>
        </p:blipFill>
        <p:spPr bwMode="auto">
          <a:xfrm>
            <a:off x="1600201" y="2366682"/>
            <a:ext cx="8780928" cy="4141695"/>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BDCDBBEF-AA6C-4BA6-85B2-A17D7F280E38}" type="slidenum">
              <a:rPr lang="en-US" smtClean="0"/>
              <a:pPr/>
              <a:t>14</a:t>
            </a:fld>
            <a:endParaRPr lang="en-US" dirty="0"/>
          </a:p>
        </p:txBody>
      </p:sp>
      <p:sp>
        <p:nvSpPr>
          <p:cNvPr id="7" name="Title 1">
            <a:extLst>
              <a:ext uri="{FF2B5EF4-FFF2-40B4-BE49-F238E27FC236}">
                <a16:creationId xmlns="" xmlns:a16="http://schemas.microsoft.com/office/drawing/2014/main" id="{8D514A40-F4C0-3B72-92F2-CA704821BA35}"/>
              </a:ext>
            </a:extLst>
          </p:cNvPr>
          <p:cNvSpPr>
            <a:spLocks noGrp="1"/>
          </p:cNvSpPr>
          <p:nvPr>
            <p:ph type="title"/>
          </p:nvPr>
        </p:nvSpPr>
        <p:spPr>
          <a:xfrm>
            <a:off x="838199" y="94670"/>
            <a:ext cx="11183471" cy="858368"/>
          </a:xfrm>
        </p:spPr>
        <p:txBody>
          <a:bodyPr>
            <a:normAutofit/>
          </a:bodyPr>
          <a:lstStyle/>
          <a:p>
            <a:pPr algn="ctr"/>
            <a:r>
              <a:rPr lang="en-US" sz="3200" b="1" dirty="0">
                <a:latin typeface="Times New Roman" pitchFamily="18" charset="0"/>
                <a:cs typeface="Times New Roman" pitchFamily="18" charset="0"/>
              </a:rPr>
              <a:t>Registers Memory</a:t>
            </a:r>
            <a:endParaRPr lang="en-IN" sz="3200" b="1" dirty="0">
              <a:latin typeface="Times New Roman" pitchFamily="18" charset="0"/>
              <a:cs typeface="Times New Roman" pitchFamily="18" charset="0"/>
            </a:endParaRPr>
          </a:p>
        </p:txBody>
      </p:sp>
      <p:sp>
        <p:nvSpPr>
          <p:cNvPr id="2" name="Content Placeholder 2">
            <a:extLst>
              <a:ext uri="{FF2B5EF4-FFF2-40B4-BE49-F238E27FC236}">
                <a16:creationId xmlns="" xmlns:a16="http://schemas.microsoft.com/office/drawing/2014/main" id="{A04B9C3B-DE28-7658-C67A-C59F13E4D9CB}"/>
              </a:ext>
            </a:extLst>
          </p:cNvPr>
          <p:cNvSpPr txBox="1">
            <a:spLocks/>
          </p:cNvSpPr>
          <p:nvPr/>
        </p:nvSpPr>
        <p:spPr>
          <a:xfrm>
            <a:off x="403412" y="1174376"/>
            <a:ext cx="11412072" cy="518197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2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Register memory is the smallest and fastest memory in a computer. </a:t>
            </a:r>
          </a:p>
          <a:p>
            <a:pPr algn="just">
              <a:lnSpc>
                <a:spcPct val="12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It is not a part of the main memory and is located in the CPU in the form of registers, which are the smallest data holding elements. </a:t>
            </a:r>
          </a:p>
          <a:p>
            <a:pPr algn="just">
              <a:lnSpc>
                <a:spcPct val="12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 register temporarily holds frequently used data, instructions, and memory address that are to be used by CPU. They hold instructions that are currently processed by the CPU. </a:t>
            </a:r>
          </a:p>
          <a:p>
            <a:pPr algn="just">
              <a:lnSpc>
                <a:spcPct val="12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All data is required to pass through registers before it can be processed. So, they are used by CPU to process the data entered by the users.</a:t>
            </a:r>
          </a:p>
          <a:p>
            <a:pPr algn="just">
              <a:lnSpc>
                <a:spcPct val="12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Registers hold a small amount of data around 32 bits to 64 bits. The speed of a CPU depends on the number and size (no. of bits) of registers that are built into the CPU. </a:t>
            </a:r>
          </a:p>
          <a:p>
            <a:pPr algn="just">
              <a:lnSpc>
                <a:spcPct val="12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Registers can be of different types based on their uses. Some of the widely used Registers include Accumulator or AC, Data Register or DR, the Address Register or AR, Program Counter (PC), I/O Address Register, and more.</a:t>
            </a:r>
          </a:p>
        </p:txBody>
      </p:sp>
    </p:spTree>
    <p:extLst>
      <p:ext uri="{BB962C8B-B14F-4D97-AF65-F5344CB8AC3E}">
        <p14:creationId xmlns="" xmlns:p14="http://schemas.microsoft.com/office/powerpoint/2010/main" val="4935789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3411" y="1174376"/>
            <a:ext cx="11349317" cy="5459506"/>
          </a:xfrm>
        </p:spPr>
        <p:txBody>
          <a:bodyPr>
            <a:noAutofit/>
          </a:bodyPr>
          <a:lstStyle/>
          <a:p>
            <a:pPr marL="0" indent="0" algn="just">
              <a:lnSpc>
                <a:spcPct val="120000"/>
              </a:lnSpc>
              <a:buNone/>
            </a:pPr>
            <a:r>
              <a:rPr lang="en-US" sz="2000" b="1" dirty="0">
                <a:latin typeface="Times New Roman" panose="02020603050405020304" pitchFamily="18" charset="0"/>
                <a:cs typeface="Times New Roman" panose="02020603050405020304" pitchFamily="18" charset="0"/>
              </a:rPr>
              <a:t>Types and Functions of Computer Registers:</a:t>
            </a:r>
          </a:p>
          <a:p>
            <a:pPr algn="just">
              <a:lnSpc>
                <a:spcPct val="12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Data Register: </a:t>
            </a:r>
            <a:r>
              <a:rPr lang="en-US" sz="2000" dirty="0">
                <a:latin typeface="Times New Roman" panose="02020603050405020304" pitchFamily="18" charset="0"/>
                <a:cs typeface="Times New Roman" panose="02020603050405020304" pitchFamily="18" charset="0"/>
              </a:rPr>
              <a:t>It is a 16-bit register, which is used to store operands (variables) to be operated by the processor. It temporarily stores data, which is being transmitted to or received from a peripheral device.</a:t>
            </a:r>
          </a:p>
          <a:p>
            <a:pPr algn="just">
              <a:lnSpc>
                <a:spcPct val="12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Program Counter (PC): </a:t>
            </a:r>
            <a:r>
              <a:rPr lang="en-US" sz="2000" dirty="0">
                <a:latin typeface="Times New Roman" panose="02020603050405020304" pitchFamily="18" charset="0"/>
                <a:cs typeface="Times New Roman" panose="02020603050405020304" pitchFamily="18" charset="0"/>
              </a:rPr>
              <a:t>It holds the address of the memory location of the next instruction, which is to be fetched after the current instruction is completed. </a:t>
            </a:r>
          </a:p>
          <a:p>
            <a:pPr algn="just">
              <a:lnSpc>
                <a:spcPct val="12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Instructor Register: </a:t>
            </a:r>
            <a:r>
              <a:rPr lang="en-US" sz="2000" dirty="0">
                <a:latin typeface="Times New Roman" panose="02020603050405020304" pitchFamily="18" charset="0"/>
                <a:cs typeface="Times New Roman" panose="02020603050405020304" pitchFamily="18" charset="0"/>
              </a:rPr>
              <a:t>It is a 16-bit register. It stores the instruction which is fetched from the main memory. So, it is used to hold instruction codes, which are to be executed. The Control Unit takes instruction from Instructor Register, then decodes and executes it.</a:t>
            </a:r>
          </a:p>
          <a:p>
            <a:pPr algn="just">
              <a:lnSpc>
                <a:spcPct val="12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Accumulator Register: </a:t>
            </a:r>
            <a:r>
              <a:rPr lang="en-US" sz="2000" dirty="0">
                <a:latin typeface="Times New Roman" panose="02020603050405020304" pitchFamily="18" charset="0"/>
                <a:cs typeface="Times New Roman" panose="02020603050405020304" pitchFamily="18" charset="0"/>
              </a:rPr>
              <a:t>It is a 16-bit register, which is used to store the results produced by the system. </a:t>
            </a:r>
            <a:r>
              <a:rPr lang="en-US" sz="2000" b="1" dirty="0">
                <a:latin typeface="Times New Roman" panose="02020603050405020304" pitchFamily="18" charset="0"/>
                <a:cs typeface="Times New Roman" panose="02020603050405020304" pitchFamily="18" charset="0"/>
              </a:rPr>
              <a:t>Address Register: </a:t>
            </a:r>
            <a:r>
              <a:rPr lang="en-US" sz="2000" dirty="0">
                <a:latin typeface="Times New Roman" panose="02020603050405020304" pitchFamily="18" charset="0"/>
                <a:cs typeface="Times New Roman" panose="02020603050405020304" pitchFamily="18" charset="0"/>
              </a:rPr>
              <a:t>It is a 12-bit register that stores the address of a memory location where instructions or data is stored in the memory.</a:t>
            </a:r>
          </a:p>
          <a:p>
            <a:pPr algn="just">
              <a:lnSpc>
                <a:spcPct val="12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I/O Address Register: </a:t>
            </a:r>
            <a:r>
              <a:rPr lang="en-US" sz="2000" dirty="0">
                <a:latin typeface="Times New Roman" panose="02020603050405020304" pitchFamily="18" charset="0"/>
                <a:cs typeface="Times New Roman" panose="02020603050405020304" pitchFamily="18" charset="0"/>
              </a:rPr>
              <a:t>Its job is to specify the address of a particular I/O device.</a:t>
            </a:r>
          </a:p>
          <a:p>
            <a:pPr algn="just">
              <a:lnSpc>
                <a:spcPct val="12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I/O Buffer Register: </a:t>
            </a:r>
            <a:r>
              <a:rPr lang="en-US" sz="2000" dirty="0">
                <a:latin typeface="Times New Roman" panose="02020603050405020304" pitchFamily="18" charset="0"/>
                <a:cs typeface="Times New Roman" panose="02020603050405020304" pitchFamily="18" charset="0"/>
              </a:rPr>
              <a:t>Its job is to exchange the data between an I/O module and the CPU.</a:t>
            </a:r>
          </a:p>
        </p:txBody>
      </p:sp>
      <p:sp>
        <p:nvSpPr>
          <p:cNvPr id="5" name="Slide Number Placeholder 4"/>
          <p:cNvSpPr>
            <a:spLocks noGrp="1"/>
          </p:cNvSpPr>
          <p:nvPr>
            <p:ph type="sldNum" sz="quarter" idx="12"/>
          </p:nvPr>
        </p:nvSpPr>
        <p:spPr/>
        <p:txBody>
          <a:bodyPr/>
          <a:lstStyle/>
          <a:p>
            <a:fld id="{BDCDBBEF-AA6C-4BA6-85B2-A17D7F280E38}" type="slidenum">
              <a:rPr lang="en-US" smtClean="0"/>
              <a:pPr/>
              <a:t>15</a:t>
            </a:fld>
            <a:endParaRPr lang="en-US" dirty="0"/>
          </a:p>
        </p:txBody>
      </p:sp>
    </p:spTree>
    <p:extLst>
      <p:ext uri="{BB962C8B-B14F-4D97-AF65-F5344CB8AC3E}">
        <p14:creationId xmlns="" xmlns:p14="http://schemas.microsoft.com/office/powerpoint/2010/main" val="292069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32012"/>
            <a:ext cx="10515600" cy="5544951"/>
          </a:xfrm>
        </p:spPr>
        <p:txBody>
          <a:bodyPr/>
          <a:lstStyle/>
          <a:p>
            <a:r>
              <a:rPr lang="en-US" b="1" dirty="0" smtClean="0"/>
              <a:t>Memory Address Register (MAR)</a:t>
            </a:r>
          </a:p>
          <a:p>
            <a:pPr>
              <a:buNone/>
            </a:pPr>
            <a:r>
              <a:rPr lang="en-US" b="1" dirty="0" smtClean="0"/>
              <a:t>Function:</a:t>
            </a:r>
            <a:r>
              <a:rPr lang="en-US" dirty="0" smtClean="0"/>
              <a:t> Holds the address of the memory location that is to be read from or written to.</a:t>
            </a:r>
          </a:p>
          <a:p>
            <a:pPr>
              <a:buNone/>
            </a:pPr>
            <a:r>
              <a:rPr lang="en-US" b="1" dirty="0" smtClean="0"/>
              <a:t>Role:</a:t>
            </a:r>
            <a:r>
              <a:rPr lang="en-US" dirty="0" smtClean="0"/>
              <a:t> It serves as a pointer to the memory location, indicating where data should be accessed or stored.</a:t>
            </a:r>
          </a:p>
          <a:p>
            <a:r>
              <a:rPr lang="en-US" b="1" dirty="0" smtClean="0"/>
              <a:t>Memory Buffer Register (MBR)</a:t>
            </a:r>
          </a:p>
          <a:p>
            <a:pPr>
              <a:buNone/>
            </a:pPr>
            <a:r>
              <a:rPr lang="en-US" b="1" dirty="0" smtClean="0"/>
              <a:t>Function:</a:t>
            </a:r>
            <a:r>
              <a:rPr lang="en-US" dirty="0" smtClean="0"/>
              <a:t> Temporarily holds the data that is read from or written to the memory.</a:t>
            </a:r>
          </a:p>
          <a:p>
            <a:pPr>
              <a:buNone/>
            </a:pPr>
            <a:r>
              <a:rPr lang="en-US" b="1" dirty="0" smtClean="0"/>
              <a:t>Role:</a:t>
            </a:r>
            <a:r>
              <a:rPr lang="en-US" dirty="0" smtClean="0"/>
              <a:t> Acts as a data buffer between the CPU and memory.</a:t>
            </a:r>
          </a:p>
          <a:p>
            <a:pPr>
              <a:buNone/>
            </a:pPr>
            <a:r>
              <a:rPr lang="en-US" b="1" dirty="0" smtClean="0"/>
              <a:t>Data Type:</a:t>
            </a:r>
            <a:r>
              <a:rPr lang="en-US" dirty="0" smtClean="0"/>
              <a:t> Stores actual data (not addresses).</a:t>
            </a:r>
          </a:p>
          <a:p>
            <a:endParaRPr lang="en-US" dirty="0"/>
          </a:p>
        </p:txBody>
      </p:sp>
      <p:sp>
        <p:nvSpPr>
          <p:cNvPr id="4" name="Footer Placeholder 3"/>
          <p:cNvSpPr>
            <a:spLocks noGrp="1"/>
          </p:cNvSpPr>
          <p:nvPr>
            <p:ph type="ftr" sz="quarter" idx="11"/>
          </p:nvPr>
        </p:nvSpPr>
        <p:spPr/>
        <p:txBody>
          <a:bodyPr/>
          <a:lstStyle/>
          <a:p>
            <a:r>
              <a:rPr lang="en-US" smtClean="0"/>
              <a:t>By: Pramod Vishwakarma (E9758)</a:t>
            </a:r>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BDCDBBEF-AA6C-4BA6-85B2-A17D7F280E38}" type="slidenum">
              <a:rPr lang="en-US" smtClean="0"/>
              <a:pPr/>
              <a:t>17</a:t>
            </a:fld>
            <a:endParaRPr lang="en-US" dirty="0"/>
          </a:p>
        </p:txBody>
      </p:sp>
      <p:sp>
        <p:nvSpPr>
          <p:cNvPr id="7" name="Title 1">
            <a:extLst>
              <a:ext uri="{FF2B5EF4-FFF2-40B4-BE49-F238E27FC236}">
                <a16:creationId xmlns="" xmlns:a16="http://schemas.microsoft.com/office/drawing/2014/main" id="{8D514A40-F4C0-3B72-92F2-CA704821BA35}"/>
              </a:ext>
            </a:extLst>
          </p:cNvPr>
          <p:cNvSpPr>
            <a:spLocks noGrp="1"/>
          </p:cNvSpPr>
          <p:nvPr>
            <p:ph type="title"/>
          </p:nvPr>
        </p:nvSpPr>
        <p:spPr>
          <a:xfrm>
            <a:off x="838199" y="94670"/>
            <a:ext cx="11183471" cy="858368"/>
          </a:xfrm>
        </p:spPr>
        <p:txBody>
          <a:bodyPr>
            <a:normAutofit/>
          </a:bodyPr>
          <a:lstStyle/>
          <a:p>
            <a:pPr algn="ctr"/>
            <a:r>
              <a:rPr lang="en-US" sz="3200" b="1" dirty="0">
                <a:latin typeface="Times New Roman" pitchFamily="18" charset="0"/>
                <a:cs typeface="Times New Roman" pitchFamily="18" charset="0"/>
              </a:rPr>
              <a:t>Common System Bus of Computer</a:t>
            </a:r>
            <a:endParaRPr lang="en-IN" sz="3200" b="1" dirty="0">
              <a:latin typeface="Times New Roman" pitchFamily="18" charset="0"/>
              <a:cs typeface="Times New Roman" pitchFamily="18" charset="0"/>
            </a:endParaRPr>
          </a:p>
        </p:txBody>
      </p:sp>
      <p:sp>
        <p:nvSpPr>
          <p:cNvPr id="2" name="Content Placeholder 2">
            <a:extLst>
              <a:ext uri="{FF2B5EF4-FFF2-40B4-BE49-F238E27FC236}">
                <a16:creationId xmlns="" xmlns:a16="http://schemas.microsoft.com/office/drawing/2014/main" id="{A04B9C3B-DE28-7658-C67A-C59F13E4D9CB}"/>
              </a:ext>
            </a:extLst>
          </p:cNvPr>
          <p:cNvSpPr txBox="1">
            <a:spLocks/>
          </p:cNvSpPr>
          <p:nvPr/>
        </p:nvSpPr>
        <p:spPr>
          <a:xfrm>
            <a:off x="403412" y="1174376"/>
            <a:ext cx="11412072" cy="518197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2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Physical Medium used to exchange data between various components of computer is called as bus or system bus. </a:t>
            </a:r>
          </a:p>
          <a:p>
            <a:pPr marL="447675" algn="just">
              <a:lnSpc>
                <a:spcPct val="120000"/>
              </a:lnSpc>
            </a:pPr>
            <a:r>
              <a:rPr lang="en-US" sz="2000" b="1" dirty="0">
                <a:latin typeface="Times New Roman" panose="02020603050405020304" pitchFamily="18" charset="0"/>
                <a:cs typeface="Times New Roman" panose="02020603050405020304" pitchFamily="18" charset="0"/>
              </a:rPr>
              <a:t>Data Bus: </a:t>
            </a:r>
            <a:r>
              <a:rPr lang="en-US" sz="2000" dirty="0">
                <a:latin typeface="Times New Roman" panose="02020603050405020304" pitchFamily="18" charset="0"/>
                <a:cs typeface="Times New Roman" panose="02020603050405020304" pitchFamily="18" charset="0"/>
              </a:rPr>
              <a:t>Used to transfer Data</a:t>
            </a:r>
          </a:p>
          <a:p>
            <a:pPr marL="447675" algn="just">
              <a:lnSpc>
                <a:spcPct val="120000"/>
              </a:lnSpc>
            </a:pPr>
            <a:r>
              <a:rPr lang="en-US" sz="2000" b="1" dirty="0">
                <a:latin typeface="Times New Roman" panose="02020603050405020304" pitchFamily="18" charset="0"/>
                <a:cs typeface="Times New Roman" panose="02020603050405020304" pitchFamily="18" charset="0"/>
              </a:rPr>
              <a:t>Address Bus: </a:t>
            </a:r>
            <a:r>
              <a:rPr lang="en-US" sz="2000" dirty="0">
                <a:latin typeface="Times New Roman" panose="02020603050405020304" pitchFamily="18" charset="0"/>
                <a:cs typeface="Times New Roman" panose="02020603050405020304" pitchFamily="18" charset="0"/>
              </a:rPr>
              <a:t>Used to transfer Addresses </a:t>
            </a:r>
          </a:p>
          <a:p>
            <a:pPr marL="447675" algn="just">
              <a:lnSpc>
                <a:spcPct val="120000"/>
              </a:lnSpc>
            </a:pPr>
            <a:r>
              <a:rPr lang="en-US" sz="2000" b="1" dirty="0">
                <a:latin typeface="Times New Roman" panose="02020603050405020304" pitchFamily="18" charset="0"/>
                <a:cs typeface="Times New Roman" panose="02020603050405020304" pitchFamily="18" charset="0"/>
              </a:rPr>
              <a:t>Control Bus: </a:t>
            </a:r>
            <a:r>
              <a:rPr lang="en-US" sz="2000" dirty="0">
                <a:latin typeface="Times New Roman" panose="02020603050405020304" pitchFamily="18" charset="0"/>
                <a:cs typeface="Times New Roman" panose="02020603050405020304" pitchFamily="18" charset="0"/>
              </a:rPr>
              <a:t>Used to transfer Control Signal</a:t>
            </a:r>
          </a:p>
          <a:p>
            <a:pPr algn="just">
              <a:lnSpc>
                <a:spcPct val="12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 system bus is a single computer bus that connects the major components of a computer system, combining the functions of a data bus to carry information, an address bus to determine where it should be sent or read from, and a control bus to determine its operation. </a:t>
            </a:r>
          </a:p>
          <a:p>
            <a:pPr algn="just">
              <a:lnSpc>
                <a:spcPct val="12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Common Bus system is used to provides the path to transfer data from register to register or in-between the registers and memory. </a:t>
            </a:r>
          </a:p>
          <a:p>
            <a:pPr algn="just">
              <a:lnSpc>
                <a:spcPct val="12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Common Bus System uses a multiplexer to implement Common BUS.</a:t>
            </a:r>
          </a:p>
        </p:txBody>
      </p:sp>
    </p:spTree>
    <p:extLst>
      <p:ext uri="{BB962C8B-B14F-4D97-AF65-F5344CB8AC3E}">
        <p14:creationId xmlns="" xmlns:p14="http://schemas.microsoft.com/office/powerpoint/2010/main" val="6944012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3409" y="1622612"/>
            <a:ext cx="11349317" cy="2644588"/>
          </a:xfrm>
        </p:spPr>
        <p:txBody>
          <a:bodyPr>
            <a:noAutofit/>
          </a:bodyPr>
          <a:lstStyle/>
          <a:p>
            <a:pPr algn="just">
              <a:lnSpc>
                <a:spcPct val="12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Discussed about Control Unit.</a:t>
            </a:r>
          </a:p>
          <a:p>
            <a:pPr algn="just">
              <a:lnSpc>
                <a:spcPct val="12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Discussed the working of control unit.</a:t>
            </a:r>
          </a:p>
          <a:p>
            <a:pPr algn="just">
              <a:lnSpc>
                <a:spcPct val="12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Learn about the ALU.</a:t>
            </a:r>
          </a:p>
          <a:p>
            <a:pPr algn="just">
              <a:lnSpc>
                <a:spcPct val="12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Learn about the Registers.</a:t>
            </a:r>
          </a:p>
          <a:p>
            <a:pPr algn="just">
              <a:lnSpc>
                <a:spcPct val="12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Learn about the BUSs.</a:t>
            </a:r>
          </a:p>
        </p:txBody>
      </p:sp>
      <p:sp>
        <p:nvSpPr>
          <p:cNvPr id="5" name="Slide Number Placeholder 4"/>
          <p:cNvSpPr>
            <a:spLocks noGrp="1"/>
          </p:cNvSpPr>
          <p:nvPr>
            <p:ph type="sldNum" sz="quarter" idx="12"/>
          </p:nvPr>
        </p:nvSpPr>
        <p:spPr/>
        <p:txBody>
          <a:bodyPr/>
          <a:lstStyle/>
          <a:p>
            <a:fld id="{BDCDBBEF-AA6C-4BA6-85B2-A17D7F280E38}" type="slidenum">
              <a:rPr lang="en-US" smtClean="0"/>
              <a:pPr/>
              <a:t>18</a:t>
            </a:fld>
            <a:endParaRPr lang="en-US"/>
          </a:p>
        </p:txBody>
      </p:sp>
      <p:sp>
        <p:nvSpPr>
          <p:cNvPr id="7" name="Title 1">
            <a:extLst>
              <a:ext uri="{FF2B5EF4-FFF2-40B4-BE49-F238E27FC236}">
                <a16:creationId xmlns="" xmlns:a16="http://schemas.microsoft.com/office/drawing/2014/main" id="{8D514A40-F4C0-3B72-92F2-CA704821BA35}"/>
              </a:ext>
            </a:extLst>
          </p:cNvPr>
          <p:cNvSpPr>
            <a:spLocks noGrp="1"/>
          </p:cNvSpPr>
          <p:nvPr>
            <p:ph type="title"/>
          </p:nvPr>
        </p:nvSpPr>
        <p:spPr>
          <a:xfrm>
            <a:off x="403409" y="984630"/>
            <a:ext cx="11183471" cy="858368"/>
          </a:xfrm>
        </p:spPr>
        <p:txBody>
          <a:bodyPr>
            <a:normAutofit/>
          </a:bodyPr>
          <a:lstStyle/>
          <a:p>
            <a:r>
              <a:rPr lang="en-IN" sz="3200" b="1" dirty="0">
                <a:latin typeface="Times New Roman" pitchFamily="18" charset="0"/>
                <a:cs typeface="Times New Roman" pitchFamily="18" charset="0"/>
              </a:rPr>
              <a:t>Summary</a:t>
            </a:r>
          </a:p>
        </p:txBody>
      </p:sp>
      <p:sp>
        <p:nvSpPr>
          <p:cNvPr id="2" name="Title 1">
            <a:extLst>
              <a:ext uri="{FF2B5EF4-FFF2-40B4-BE49-F238E27FC236}">
                <a16:creationId xmlns="" xmlns:a16="http://schemas.microsoft.com/office/drawing/2014/main" id="{12602A8D-2B50-177B-EC6E-80BCD8C808F8}"/>
              </a:ext>
            </a:extLst>
          </p:cNvPr>
          <p:cNvSpPr txBox="1">
            <a:spLocks/>
          </p:cNvSpPr>
          <p:nvPr/>
        </p:nvSpPr>
        <p:spPr>
          <a:xfrm>
            <a:off x="403408" y="4091268"/>
            <a:ext cx="11183471" cy="85836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200" b="1" dirty="0">
                <a:latin typeface="Times New Roman" pitchFamily="18" charset="0"/>
                <a:cs typeface="Times New Roman" pitchFamily="18" charset="0"/>
              </a:rPr>
              <a:t>Assessment Questions</a:t>
            </a:r>
          </a:p>
        </p:txBody>
      </p:sp>
      <p:sp>
        <p:nvSpPr>
          <p:cNvPr id="4" name="Content Placeholder 2">
            <a:extLst>
              <a:ext uri="{FF2B5EF4-FFF2-40B4-BE49-F238E27FC236}">
                <a16:creationId xmlns="" xmlns:a16="http://schemas.microsoft.com/office/drawing/2014/main" id="{DCB9A315-E456-5AB7-37E9-6394B8115673}"/>
              </a:ext>
            </a:extLst>
          </p:cNvPr>
          <p:cNvSpPr txBox="1">
            <a:spLocks/>
          </p:cNvSpPr>
          <p:nvPr/>
        </p:nvSpPr>
        <p:spPr>
          <a:xfrm>
            <a:off x="403408" y="4818061"/>
            <a:ext cx="11349317" cy="142538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20000"/>
              </a:lnSpc>
              <a:buNone/>
            </a:pPr>
            <a:r>
              <a:rPr lang="en-US" sz="2000" dirty="0">
                <a:latin typeface="Times New Roman" panose="02020603050405020304" pitchFamily="18" charset="0"/>
                <a:cs typeface="Times New Roman" panose="02020603050405020304" pitchFamily="18" charset="0"/>
              </a:rPr>
              <a:t>Q1. What are some of the components of a CPU.</a:t>
            </a:r>
          </a:p>
          <a:p>
            <a:pPr marL="0" indent="0" algn="just">
              <a:lnSpc>
                <a:spcPct val="120000"/>
              </a:lnSpc>
              <a:buNone/>
            </a:pPr>
            <a:r>
              <a:rPr lang="en-US" sz="2000" dirty="0">
                <a:latin typeface="Times New Roman" panose="02020603050405020304" pitchFamily="18" charset="0"/>
                <a:cs typeface="Times New Roman" panose="02020603050405020304" pitchFamily="18" charset="0"/>
              </a:rPr>
              <a:t>Q2. Which component of a computer moderates the action of its other components?</a:t>
            </a:r>
          </a:p>
        </p:txBody>
      </p:sp>
    </p:spTree>
    <p:extLst>
      <p:ext uri="{BB962C8B-B14F-4D97-AF65-F5344CB8AC3E}">
        <p14:creationId xmlns="" xmlns:p14="http://schemas.microsoft.com/office/powerpoint/2010/main" val="1951449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06EFB3E-74BE-4567-8306-94DB87441652}"/>
              </a:ext>
            </a:extLst>
          </p:cNvPr>
          <p:cNvSpPr>
            <a:spLocks noGrp="1"/>
          </p:cNvSpPr>
          <p:nvPr>
            <p:ph type="title"/>
          </p:nvPr>
        </p:nvSpPr>
        <p:spPr>
          <a:xfrm>
            <a:off x="838200" y="136525"/>
            <a:ext cx="10515600" cy="1325563"/>
          </a:xfrm>
        </p:spPr>
        <p:txBody>
          <a:bodyPr>
            <a:normAutofit/>
          </a:bodyPr>
          <a:lstStyle/>
          <a:p>
            <a:r>
              <a:rPr lang="en-IN" sz="3200" b="1" dirty="0">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 xmlns:a16="http://schemas.microsoft.com/office/drawing/2014/main" id="{9ED133A0-8705-49D8-87D3-023A00952EE0}"/>
              </a:ext>
            </a:extLst>
          </p:cNvPr>
          <p:cNvSpPr>
            <a:spLocks noGrp="1"/>
          </p:cNvSpPr>
          <p:nvPr>
            <p:ph idx="1"/>
          </p:nvPr>
        </p:nvSpPr>
        <p:spPr/>
        <p:txBody>
          <a:bodyPr>
            <a:normAutofit/>
          </a:bodyPr>
          <a:lstStyle/>
          <a:p>
            <a:pPr>
              <a:buNone/>
            </a:pPr>
            <a:r>
              <a:rPr lang="en-US" sz="2000" b="1" i="1" dirty="0" smtClean="0"/>
              <a:t>Text Books </a:t>
            </a:r>
            <a:endParaRPr lang="en-US" sz="2000" b="1" dirty="0" smtClean="0"/>
          </a:p>
          <a:p>
            <a:r>
              <a:rPr lang="en-US" sz="2000" dirty="0" smtClean="0"/>
              <a:t>Computer System Architecture M. M. </a:t>
            </a:r>
            <a:r>
              <a:rPr lang="en-US" sz="2000" dirty="0" err="1" smtClean="0"/>
              <a:t>Mano</a:t>
            </a:r>
            <a:r>
              <a:rPr lang="en-US" sz="2000" dirty="0" smtClean="0"/>
              <a:t>: 3rd ed., Prentice Hall of India, New Delhi, 1993.</a:t>
            </a:r>
          </a:p>
          <a:p>
            <a:r>
              <a:rPr lang="en-US" sz="2000" dirty="0" smtClean="0"/>
              <a:t>Computer Organization and Design: The Hardware/Software Interface, David A. Patterson and John L. Hennessy.</a:t>
            </a:r>
          </a:p>
          <a:p>
            <a:r>
              <a:rPr lang="en-US" sz="2000" dirty="0" smtClean="0"/>
              <a:t>Computer Organization and Embedded Systems, Carl </a:t>
            </a:r>
            <a:r>
              <a:rPr lang="en-US" sz="2000" dirty="0" err="1" smtClean="0"/>
              <a:t>Hamacher</a:t>
            </a:r>
            <a:r>
              <a:rPr lang="en-US" sz="2000" dirty="0" smtClean="0"/>
              <a:t>.</a:t>
            </a:r>
          </a:p>
          <a:p>
            <a:pPr>
              <a:buNone/>
            </a:pPr>
            <a:r>
              <a:rPr lang="en-US" sz="2000" b="1" i="1" dirty="0" smtClean="0"/>
              <a:t>Reference Books </a:t>
            </a:r>
            <a:endParaRPr lang="en-US" sz="2000" b="1" dirty="0" smtClean="0"/>
          </a:p>
          <a:p>
            <a:r>
              <a:rPr lang="en-US" sz="2000" dirty="0" smtClean="0"/>
              <a:t>Computer Architecture and Organization, John P. Hayes.</a:t>
            </a:r>
          </a:p>
          <a:p>
            <a:r>
              <a:rPr lang="en-US" sz="2000" dirty="0" smtClean="0"/>
              <a:t>Computer Organization and Architecture: Designing for Performance, William Stallings.</a:t>
            </a:r>
          </a:p>
          <a:p>
            <a:r>
              <a:rPr lang="en-US" sz="2000" dirty="0" smtClean="0"/>
              <a:t>Computer System Design and Architecture, Vincent P. </a:t>
            </a:r>
            <a:r>
              <a:rPr lang="en-US" sz="2000" dirty="0" err="1" smtClean="0"/>
              <a:t>Heuring</a:t>
            </a:r>
            <a:r>
              <a:rPr lang="en-US" sz="2000" dirty="0" smtClean="0"/>
              <a:t> and Harry F. Jordan.</a:t>
            </a:r>
            <a:endParaRPr lang="en-US" sz="2000" dirty="0"/>
          </a:p>
        </p:txBody>
      </p:sp>
      <p:sp>
        <p:nvSpPr>
          <p:cNvPr id="4" name="Slide Number Placeholder 3">
            <a:extLst>
              <a:ext uri="{FF2B5EF4-FFF2-40B4-BE49-F238E27FC236}">
                <a16:creationId xmlns="" xmlns:a16="http://schemas.microsoft.com/office/drawing/2014/main" id="{4EC4868D-1AF8-4893-8582-9D7065E0A48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CDBBEF-AA6C-4BA6-85B2-A17D7F280E38}"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 xmlns:p14="http://schemas.microsoft.com/office/powerpoint/2010/main" val="14121077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06EFB3E-74BE-4567-8306-94DB87441652}"/>
              </a:ext>
            </a:extLst>
          </p:cNvPr>
          <p:cNvSpPr>
            <a:spLocks noGrp="1"/>
          </p:cNvSpPr>
          <p:nvPr>
            <p:ph type="title"/>
          </p:nvPr>
        </p:nvSpPr>
        <p:spPr>
          <a:xfrm>
            <a:off x="838200" y="136525"/>
            <a:ext cx="10515600" cy="1325563"/>
          </a:xfrm>
        </p:spPr>
        <p:txBody>
          <a:bodyPr>
            <a:normAutofit/>
          </a:bodyPr>
          <a:lstStyle/>
          <a:p>
            <a:r>
              <a:rPr lang="en-IN" sz="3200" b="1" dirty="0">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 xmlns:a16="http://schemas.microsoft.com/office/drawing/2014/main" id="{9ED133A0-8705-49D8-87D3-023A00952EE0}"/>
              </a:ext>
            </a:extLst>
          </p:cNvPr>
          <p:cNvSpPr>
            <a:spLocks noGrp="1"/>
          </p:cNvSpPr>
          <p:nvPr>
            <p:ph idx="1"/>
          </p:nvPr>
        </p:nvSpPr>
        <p:spPr/>
        <p:txBody>
          <a:bodyPr>
            <a:normAutofit lnSpcReduction="10000"/>
          </a:bodyPr>
          <a:lstStyle/>
          <a:p>
            <a:r>
              <a:rPr lang="en-US" sz="2000" b="1" i="1" dirty="0" smtClean="0"/>
              <a:t>Research Paper</a:t>
            </a:r>
            <a:endParaRPr lang="en-US" sz="2000" b="1" dirty="0" smtClean="0"/>
          </a:p>
          <a:p>
            <a:r>
              <a:rPr lang="en-US" sz="2000" dirty="0" err="1" smtClean="0"/>
              <a:t>Nikolic</a:t>
            </a:r>
            <a:r>
              <a:rPr lang="en-US" sz="2000" dirty="0" smtClean="0"/>
              <a:t>, B., </a:t>
            </a:r>
            <a:r>
              <a:rPr lang="en-US" sz="2000" dirty="0" err="1" smtClean="0"/>
              <a:t>Radivojevic</a:t>
            </a:r>
            <a:r>
              <a:rPr lang="en-US" sz="2000" dirty="0" smtClean="0"/>
              <a:t>, Z., </a:t>
            </a:r>
            <a:r>
              <a:rPr lang="en-US" sz="2000" dirty="0" err="1" smtClean="0"/>
              <a:t>Djordjevic</a:t>
            </a:r>
            <a:r>
              <a:rPr lang="en-US" sz="2000" dirty="0" smtClean="0"/>
              <a:t>, J., &amp; </a:t>
            </a:r>
            <a:r>
              <a:rPr lang="en-US" sz="2000" dirty="0" err="1" smtClean="0"/>
              <a:t>Milutinovic</a:t>
            </a:r>
            <a:r>
              <a:rPr lang="en-US" sz="2000" dirty="0" smtClean="0"/>
              <a:t>, V. (2009). A survey and evaluation of simulators suitable for teaching courses in computer architecture and organization. IEEE Transactions on Education, 52(4), 449-458.</a:t>
            </a:r>
          </a:p>
          <a:p>
            <a:r>
              <a:rPr lang="en-US" sz="2000" dirty="0" err="1" smtClean="0"/>
              <a:t>Kurniawan</a:t>
            </a:r>
            <a:r>
              <a:rPr lang="en-US" sz="2000" dirty="0" smtClean="0"/>
              <a:t>, W., &amp;</a:t>
            </a:r>
            <a:r>
              <a:rPr lang="en-US" sz="2000" dirty="0" err="1" smtClean="0"/>
              <a:t>Ichsan</a:t>
            </a:r>
            <a:r>
              <a:rPr lang="en-US" sz="2000" dirty="0" smtClean="0"/>
              <a:t>, M. H. H. (2017, September). Teaching and learning support for computer architecture and organization courses design on computer engineering and computer science for undergraduate: A review. In 2017 4th International Conference on Electrical Engineering, Computer Science and Informatics (EECSI) (pp. 1-6). IEEE.</a:t>
            </a:r>
          </a:p>
          <a:p>
            <a:r>
              <a:rPr lang="en-US" sz="2000" dirty="0" err="1" smtClean="0"/>
              <a:t>Hasan</a:t>
            </a:r>
            <a:r>
              <a:rPr lang="en-US" sz="2000" dirty="0" smtClean="0"/>
              <a:t>, R., &amp; </a:t>
            </a:r>
            <a:r>
              <a:rPr lang="en-US" sz="2000" dirty="0" err="1" smtClean="0"/>
              <a:t>Mahmood</a:t>
            </a:r>
            <a:r>
              <a:rPr lang="en-US" sz="2000" dirty="0" smtClean="0"/>
              <a:t>, S. (2012, September). Survey and evaluation of simulators suitable for teaching computer architecture and organization Supporting undergraduate students at Sir </a:t>
            </a:r>
            <a:r>
              <a:rPr lang="en-US" sz="2000" dirty="0" err="1" smtClean="0"/>
              <a:t>Syed</a:t>
            </a:r>
            <a:r>
              <a:rPr lang="en-US" sz="2000" dirty="0" smtClean="0"/>
              <a:t> University of Engineering &amp; Technology. In Proceedings of 2012 UKACC International Conference on Control (pp. 1043-1045). IEEE.</a:t>
            </a:r>
          </a:p>
          <a:p>
            <a:r>
              <a:rPr lang="en-US" sz="2000" dirty="0" err="1" smtClean="0"/>
              <a:t>Djordjevic</a:t>
            </a:r>
            <a:r>
              <a:rPr lang="en-US" sz="2000" dirty="0" smtClean="0"/>
              <a:t>, J., </a:t>
            </a:r>
            <a:r>
              <a:rPr lang="en-US" sz="2000" dirty="0" err="1" smtClean="0"/>
              <a:t>Milenkovic</a:t>
            </a:r>
            <a:r>
              <a:rPr lang="en-US" sz="2000" dirty="0" smtClean="0"/>
              <a:t>, A., </a:t>
            </a:r>
            <a:r>
              <a:rPr lang="en-US" sz="2000" dirty="0" err="1" smtClean="0"/>
              <a:t>Grbanovic</a:t>
            </a:r>
            <a:r>
              <a:rPr lang="en-US" sz="2000" dirty="0" smtClean="0"/>
              <a:t>, N., &amp; </a:t>
            </a:r>
            <a:r>
              <a:rPr lang="en-US" sz="2000" dirty="0" err="1" smtClean="0"/>
              <a:t>Bojovic</a:t>
            </a:r>
            <a:r>
              <a:rPr lang="en-US" sz="2000" dirty="0" smtClean="0"/>
              <a:t>, M. (1998, January). An educational environment for teaching a course in computer architecture and organization. In WCAE@ HPCA (p. 4)</a:t>
            </a:r>
            <a:endParaRPr lang="en-US" sz="2000" dirty="0"/>
          </a:p>
        </p:txBody>
      </p:sp>
      <p:sp>
        <p:nvSpPr>
          <p:cNvPr id="4" name="Slide Number Placeholder 3">
            <a:extLst>
              <a:ext uri="{FF2B5EF4-FFF2-40B4-BE49-F238E27FC236}">
                <a16:creationId xmlns="" xmlns:a16="http://schemas.microsoft.com/office/drawing/2014/main" id="{4EC4868D-1AF8-4893-8582-9D7065E0A48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CDBBEF-AA6C-4BA6-85B2-A17D7F280E38}"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 xmlns:p14="http://schemas.microsoft.com/office/powerpoint/2010/main" val="14121077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27"/>
          <p:cNvSpPr/>
          <p:nvPr/>
        </p:nvSpPr>
        <p:spPr>
          <a:xfrm>
            <a:off x="0" y="1193"/>
            <a:ext cx="12192000" cy="4685287"/>
          </a:xfrm>
          <a:prstGeom prst="rect">
            <a:avLst/>
          </a:prstGeom>
          <a:solidFill>
            <a:srgbClr val="385623">
              <a:alpha val="60000"/>
            </a:srgbClr>
          </a:solidFill>
          <a:ln>
            <a:noFill/>
          </a:ln>
        </p:spPr>
        <p:txBody>
          <a:bodyPr spcFirstLastPara="1" wrap="square" lIns="91413" tIns="45695" rIns="91413" bIns="45695" anchor="ctr" anchorCtr="0">
            <a:noAutofit/>
          </a:bodyPr>
          <a:lstStyle/>
          <a:p>
            <a:pPr algn="ctr">
              <a:buClr>
                <a:srgbClr val="FFFFFF"/>
              </a:buClr>
              <a:buSzPts val="1800"/>
            </a:pPr>
            <a:r>
              <a:rPr lang="en-US" dirty="0">
                <a:solidFill>
                  <a:srgbClr val="FFFFFF"/>
                </a:solidFill>
                <a:latin typeface="Calibri" panose="020F0502020204030204"/>
                <a:ea typeface="Calibri" panose="020F0502020204030204"/>
                <a:cs typeface="Calibri" panose="020F0502020204030204"/>
                <a:sym typeface="Calibri" panose="020F0502020204030204"/>
              </a:rPr>
              <a:t> </a:t>
            </a:r>
            <a:endParaRPr/>
          </a:p>
        </p:txBody>
      </p:sp>
      <p:cxnSp>
        <p:nvCxnSpPr>
          <p:cNvPr id="375" name="Google Shape;375;p27"/>
          <p:cNvCxnSpPr/>
          <p:nvPr/>
        </p:nvCxnSpPr>
        <p:spPr>
          <a:xfrm>
            <a:off x="9347201" y="1194"/>
            <a:ext cx="1828801" cy="1828164"/>
          </a:xfrm>
          <a:prstGeom prst="straightConnector1">
            <a:avLst/>
          </a:prstGeom>
          <a:noFill/>
          <a:ln w="9525" cap="flat" cmpd="sng">
            <a:solidFill>
              <a:schemeClr val="accent2"/>
            </a:solidFill>
            <a:prstDash val="solid"/>
            <a:miter lim="800000"/>
            <a:headEnd type="none" w="sm" len="sm"/>
            <a:tailEnd type="none" w="sm" len="sm"/>
          </a:ln>
        </p:spPr>
      </p:cxnSp>
      <p:cxnSp>
        <p:nvCxnSpPr>
          <p:cNvPr id="376" name="Google Shape;376;p27"/>
          <p:cNvCxnSpPr/>
          <p:nvPr/>
        </p:nvCxnSpPr>
        <p:spPr>
          <a:xfrm>
            <a:off x="10169131" y="1194"/>
            <a:ext cx="663973" cy="663742"/>
          </a:xfrm>
          <a:prstGeom prst="straightConnector1">
            <a:avLst/>
          </a:prstGeom>
          <a:noFill/>
          <a:ln w="9525" cap="flat" cmpd="sng">
            <a:solidFill>
              <a:schemeClr val="accent2"/>
            </a:solidFill>
            <a:prstDash val="solid"/>
            <a:miter lim="800000"/>
            <a:headEnd type="none" w="sm" len="sm"/>
            <a:tailEnd type="none" w="sm" len="sm"/>
          </a:ln>
        </p:spPr>
      </p:cxnSp>
      <p:cxnSp>
        <p:nvCxnSpPr>
          <p:cNvPr id="377" name="Google Shape;377;p27"/>
          <p:cNvCxnSpPr/>
          <p:nvPr/>
        </p:nvCxnSpPr>
        <p:spPr>
          <a:xfrm>
            <a:off x="733432" y="6293606"/>
            <a:ext cx="558345" cy="558150"/>
          </a:xfrm>
          <a:prstGeom prst="straightConnector1">
            <a:avLst/>
          </a:prstGeom>
          <a:noFill/>
          <a:ln w="9525" cap="flat" cmpd="sng">
            <a:solidFill>
              <a:schemeClr val="accent2"/>
            </a:solidFill>
            <a:prstDash val="solid"/>
            <a:miter lim="800000"/>
            <a:headEnd type="none" w="sm" len="sm"/>
            <a:tailEnd type="none" w="sm" len="sm"/>
          </a:ln>
        </p:spPr>
      </p:cxnSp>
      <p:cxnSp>
        <p:nvCxnSpPr>
          <p:cNvPr id="378" name="Google Shape;378;p27"/>
          <p:cNvCxnSpPr/>
          <p:nvPr/>
        </p:nvCxnSpPr>
        <p:spPr>
          <a:xfrm>
            <a:off x="390533" y="5129105"/>
            <a:ext cx="1728311" cy="1727709"/>
          </a:xfrm>
          <a:prstGeom prst="straightConnector1">
            <a:avLst/>
          </a:prstGeom>
          <a:noFill/>
          <a:ln w="9525" cap="flat" cmpd="sng">
            <a:solidFill>
              <a:schemeClr val="accent2"/>
            </a:solidFill>
            <a:prstDash val="solid"/>
            <a:miter lim="800000"/>
            <a:headEnd type="none" w="sm" len="sm"/>
            <a:tailEnd type="none" w="sm" len="sm"/>
          </a:ln>
        </p:spPr>
      </p:cxnSp>
      <p:sp>
        <p:nvSpPr>
          <p:cNvPr id="379" name="Google Shape;379;p27"/>
          <p:cNvSpPr txBox="1"/>
          <p:nvPr/>
        </p:nvSpPr>
        <p:spPr>
          <a:xfrm>
            <a:off x="1485903" y="2249553"/>
            <a:ext cx="10725148" cy="1230550"/>
          </a:xfrm>
          <a:prstGeom prst="rect">
            <a:avLst/>
          </a:prstGeom>
          <a:noFill/>
          <a:ln>
            <a:noFill/>
          </a:ln>
        </p:spPr>
        <p:txBody>
          <a:bodyPr spcFirstLastPara="1" wrap="square" lIns="0" tIns="0" rIns="0" bIns="0" anchor="ctr" anchorCtr="0">
            <a:spAutoFit/>
          </a:bodyPr>
          <a:lstStyle/>
          <a:p>
            <a:pPr algn="ctr">
              <a:buClr>
                <a:srgbClr val="FFFFFF"/>
              </a:buClr>
              <a:buSzPts val="8000"/>
            </a:pPr>
            <a:r>
              <a:rPr lang="en-US" sz="8000" dirty="0">
                <a:solidFill>
                  <a:srgbClr val="FFFFFF"/>
                </a:solidFill>
                <a:latin typeface="Arial" panose="020B0604020202020204"/>
                <a:ea typeface="Arial" panose="020B0604020202020204"/>
                <a:cs typeface="Arial" panose="020B0604020202020204"/>
                <a:sym typeface="Arial" panose="020B0604020202020204"/>
              </a:rPr>
              <a:t>THANK YOU</a:t>
            </a:r>
            <a:endParaRPr/>
          </a:p>
        </p:txBody>
      </p:sp>
      <p:sp>
        <p:nvSpPr>
          <p:cNvPr id="380" name="Google Shape;380;p27"/>
          <p:cNvSpPr/>
          <p:nvPr/>
        </p:nvSpPr>
        <p:spPr>
          <a:xfrm>
            <a:off x="2641605" y="1215049"/>
            <a:ext cx="2430463" cy="3224677"/>
          </a:xfrm>
          <a:custGeom>
            <a:avLst/>
            <a:gdLst/>
            <a:ahLst/>
            <a:cxnLst/>
            <a:rect l="l" t="t" r="r" b="b"/>
            <a:pathLst>
              <a:path w="2430463" h="3225800" extrusionOk="0">
                <a:moveTo>
                  <a:pt x="2430463" y="2413000"/>
                </a:moveTo>
                <a:lnTo>
                  <a:pt x="1612900" y="3225800"/>
                </a:lnTo>
                <a:lnTo>
                  <a:pt x="0" y="1612900"/>
                </a:lnTo>
                <a:lnTo>
                  <a:pt x="1612900" y="0"/>
                </a:lnTo>
                <a:lnTo>
                  <a:pt x="2430463" y="817563"/>
                </a:lnTo>
              </a:path>
            </a:pathLst>
          </a:custGeom>
          <a:noFill/>
          <a:ln w="38100" cap="flat" cmpd="sng">
            <a:solidFill>
              <a:schemeClr val="lt1"/>
            </a:solidFill>
            <a:prstDash val="solid"/>
            <a:miter lim="800000"/>
            <a:headEnd type="none" w="sm" len="sm"/>
            <a:tailEnd type="none" w="sm" len="sm"/>
          </a:ln>
        </p:spPr>
        <p:txBody>
          <a:bodyPr spcFirstLastPara="1" wrap="square" lIns="91413" tIns="45695" rIns="91413" bIns="45695" anchor="ctr" anchorCtr="0">
            <a:noAutofit/>
          </a:bodyPr>
          <a:lstStyle/>
          <a:p>
            <a:pPr algn="ctr">
              <a:buClr>
                <a:schemeClr val="dk1"/>
              </a:buClr>
              <a:buSzPts val="1800"/>
            </a:pPr>
            <a:endParaRPr>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381" name="Google Shape;381;p27"/>
          <p:cNvSpPr/>
          <p:nvPr/>
        </p:nvSpPr>
        <p:spPr>
          <a:xfrm>
            <a:off x="2898779" y="1215049"/>
            <a:ext cx="2430463" cy="3224677"/>
          </a:xfrm>
          <a:custGeom>
            <a:avLst/>
            <a:gdLst/>
            <a:ahLst/>
            <a:cxnLst/>
            <a:rect l="l" t="t" r="r" b="b"/>
            <a:pathLst>
              <a:path w="2430463" h="3225800" extrusionOk="0">
                <a:moveTo>
                  <a:pt x="2430463" y="2413000"/>
                </a:moveTo>
                <a:lnTo>
                  <a:pt x="1612900" y="3225800"/>
                </a:lnTo>
                <a:lnTo>
                  <a:pt x="0" y="1612900"/>
                </a:lnTo>
                <a:lnTo>
                  <a:pt x="1612900" y="0"/>
                </a:lnTo>
                <a:lnTo>
                  <a:pt x="2430463" y="817563"/>
                </a:lnTo>
              </a:path>
            </a:pathLst>
          </a:custGeom>
          <a:noFill/>
          <a:ln w="38100" cap="flat" cmpd="sng">
            <a:solidFill>
              <a:srgbClr val="FFFFFF"/>
            </a:solidFill>
            <a:prstDash val="solid"/>
            <a:miter lim="800000"/>
            <a:headEnd type="none" w="sm" len="sm"/>
            <a:tailEnd type="none" w="sm" len="sm"/>
          </a:ln>
        </p:spPr>
        <p:txBody>
          <a:bodyPr spcFirstLastPara="1" wrap="square" lIns="91413" tIns="45695" rIns="91413" bIns="45695" anchor="ctr" anchorCtr="0">
            <a:noAutofit/>
          </a:bodyPr>
          <a:lstStyle/>
          <a:p>
            <a:pPr algn="ctr">
              <a:buClr>
                <a:schemeClr val="dk1"/>
              </a:buClr>
              <a:buSzPts val="1800"/>
            </a:pPr>
            <a:endParaRPr>
              <a:solidFill>
                <a:srgbClr val="FFFFFF"/>
              </a:solidFill>
              <a:latin typeface="Calibri" panose="020F0502020204030204"/>
              <a:ea typeface="Calibri" panose="020F0502020204030204"/>
              <a:cs typeface="Calibri" panose="020F0502020204030204"/>
              <a:sym typeface="Calibri" panose="020F0502020204030204"/>
            </a:endParaRPr>
          </a:p>
        </p:txBody>
      </p:sp>
      <p:grpSp>
        <p:nvGrpSpPr>
          <p:cNvPr id="2" name="Google Shape;382;p27"/>
          <p:cNvGrpSpPr/>
          <p:nvPr/>
        </p:nvGrpSpPr>
        <p:grpSpPr>
          <a:xfrm>
            <a:off x="237522" y="153540"/>
            <a:ext cx="410563" cy="1612339"/>
            <a:chOff x="83821" y="0"/>
            <a:chExt cx="219636" cy="903079"/>
          </a:xfrm>
        </p:grpSpPr>
        <p:sp>
          <p:nvSpPr>
            <p:cNvPr id="383" name="Google Shape;383;p27"/>
            <p:cNvSpPr/>
            <p:nvPr/>
          </p:nvSpPr>
          <p:spPr>
            <a:xfrm>
              <a:off x="84026" y="0"/>
              <a:ext cx="219431" cy="210952"/>
            </a:xfrm>
            <a:prstGeom prst="rect">
              <a:avLst/>
            </a:prstGeom>
            <a:solidFill>
              <a:srgbClr val="C00000"/>
            </a:solidFill>
            <a:ln>
              <a:noFill/>
            </a:ln>
          </p:spPr>
          <p:txBody>
            <a:bodyPr spcFirstLastPara="1" wrap="square" lIns="45570" tIns="22779" rIns="45570" bIns="22779" anchor="ctr" anchorCtr="0">
              <a:noAutofit/>
            </a:bodyPr>
            <a:lstStyle/>
            <a:p>
              <a:pPr algn="ctr"/>
              <a:endParaRPr>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384" name="Google Shape;384;p27"/>
            <p:cNvSpPr/>
            <p:nvPr/>
          </p:nvSpPr>
          <p:spPr>
            <a:xfrm>
              <a:off x="84262" y="408599"/>
              <a:ext cx="219194" cy="494480"/>
            </a:xfrm>
            <a:prstGeom prst="rect">
              <a:avLst/>
            </a:prstGeom>
            <a:solidFill>
              <a:srgbClr val="0C0C0C"/>
            </a:solidFill>
            <a:ln>
              <a:noFill/>
            </a:ln>
          </p:spPr>
          <p:txBody>
            <a:bodyPr spcFirstLastPara="1" wrap="square" lIns="45570" tIns="22779" rIns="45570" bIns="22779" anchor="ctr" anchorCtr="0">
              <a:noAutofit/>
            </a:bodyPr>
            <a:lstStyle/>
            <a:p>
              <a:pPr algn="ctr"/>
              <a:endParaRPr>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385" name="Google Shape;385;p27"/>
            <p:cNvSpPr/>
            <p:nvPr/>
          </p:nvSpPr>
          <p:spPr>
            <a:xfrm>
              <a:off x="83821" y="210952"/>
              <a:ext cx="217937" cy="220980"/>
            </a:xfrm>
            <a:prstGeom prst="rect">
              <a:avLst/>
            </a:prstGeom>
            <a:solidFill>
              <a:schemeClr val="lt1"/>
            </a:solidFill>
            <a:ln>
              <a:noFill/>
            </a:ln>
          </p:spPr>
          <p:txBody>
            <a:bodyPr spcFirstLastPara="1" wrap="square" lIns="45570" tIns="22779" rIns="45570" bIns="22779" anchor="ctr" anchorCtr="0">
              <a:noAutofit/>
            </a:bodyPr>
            <a:lstStyle/>
            <a:p>
              <a:pPr algn="ctr"/>
              <a:endParaRPr>
                <a:solidFill>
                  <a:schemeClr val="lt1"/>
                </a:solidFill>
                <a:latin typeface="Calibri" panose="020F0502020204030204"/>
                <a:ea typeface="Calibri" panose="020F0502020204030204"/>
                <a:cs typeface="Calibri" panose="020F0502020204030204"/>
                <a:sym typeface="Calibri" panose="020F0502020204030204"/>
              </a:endParaRPr>
            </a:p>
          </p:txBody>
        </p:sp>
        <p:graphicFrame>
          <p:nvGraphicFramePr>
            <p:cNvPr id="386" name="Google Shape;386;p27"/>
            <p:cNvGraphicFramePr>
              <a:graphicFrameLocks noSelect="1"/>
            </p:cNvGraphicFramePr>
            <p:nvPr/>
          </p:nvGraphicFramePr>
          <p:xfrm>
            <a:off x="100420" y="236973"/>
            <a:ext cx="183878" cy="183422"/>
          </p:xfrm>
          <a:graphic>
            <a:graphicData uri="http://schemas.openxmlformats.org/presentationml/2006/ole">
              <p:oleObj spid="_x0000_s2050" r:id="rId4" imgW="0" imgH="0" progId="">
                <p:embed/>
              </p:oleObj>
            </a:graphicData>
          </a:graphic>
        </p:graphicFrame>
      </p:grpSp>
      <p:sp>
        <p:nvSpPr>
          <p:cNvPr id="387" name="Google Shape;387;p27"/>
          <p:cNvSpPr/>
          <p:nvPr/>
        </p:nvSpPr>
        <p:spPr>
          <a:xfrm>
            <a:off x="4114010" y="5393767"/>
            <a:ext cx="3426046" cy="923279"/>
          </a:xfrm>
          <a:prstGeom prst="rect">
            <a:avLst/>
          </a:prstGeom>
          <a:noFill/>
          <a:ln>
            <a:noFill/>
          </a:ln>
        </p:spPr>
        <p:txBody>
          <a:bodyPr spcFirstLastPara="1" wrap="square" lIns="91413" tIns="45695" rIns="91413" bIns="45695" anchor="t" anchorCtr="0">
            <a:spAutoFit/>
          </a:bodyPr>
          <a:lstStyle/>
          <a:p>
            <a:r>
              <a:rPr lang="en-US" dirty="0">
                <a:solidFill>
                  <a:schemeClr val="dk1"/>
                </a:solidFill>
                <a:latin typeface="Arial" panose="020B0604020202020204"/>
                <a:ea typeface="Arial" panose="020B0604020202020204"/>
                <a:cs typeface="Arial" panose="020B0604020202020204"/>
                <a:sym typeface="Arial" panose="020B0604020202020204"/>
              </a:rPr>
              <a:t>For queries</a:t>
            </a:r>
            <a:endParaRPr dirty="0"/>
          </a:p>
          <a:p>
            <a:r>
              <a:rPr lang="en-US" dirty="0">
                <a:solidFill>
                  <a:schemeClr val="dk1"/>
                </a:solidFill>
                <a:latin typeface="Arial" panose="020B0604020202020204"/>
                <a:ea typeface="Arial" panose="020B0604020202020204"/>
                <a:cs typeface="Arial" panose="020B0604020202020204"/>
                <a:sym typeface="Arial" panose="020B0604020202020204"/>
              </a:rPr>
              <a:t>Email: </a:t>
            </a:r>
            <a:r>
              <a:rPr lang="en-IN" altLang="en-US" dirty="0" smtClean="0">
                <a:solidFill>
                  <a:schemeClr val="dk1"/>
                </a:solidFill>
                <a:latin typeface="Arial" panose="020B0604020202020204"/>
                <a:ea typeface="Arial" panose="020B0604020202020204"/>
                <a:cs typeface="Arial" panose="020B0604020202020204"/>
                <a:sym typeface="Arial" panose="020B0604020202020204"/>
              </a:rPr>
              <a:t>kalpana.e14950@</a:t>
            </a:r>
            <a:r>
              <a:rPr lang="en-US" dirty="0" smtClean="0">
                <a:solidFill>
                  <a:schemeClr val="dk1"/>
                </a:solidFill>
                <a:latin typeface="Arial" panose="020B0604020202020204"/>
                <a:ea typeface="Arial" panose="020B0604020202020204"/>
                <a:cs typeface="Arial" panose="020B0604020202020204"/>
                <a:sym typeface="Arial" panose="020B0604020202020204"/>
              </a:rPr>
              <a:t>cumail.in</a:t>
            </a:r>
            <a:endParaRPr dirty="0">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32769" name="Picture 1"/>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88900" y="229714"/>
            <a:ext cx="177800" cy="1777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1299</TotalTime>
  <Words>2556</Words>
  <Application>Microsoft Office PowerPoint</Application>
  <PresentationFormat>Custom</PresentationFormat>
  <Paragraphs>170</Paragraphs>
  <Slides>21</Slides>
  <Notes>1</Notes>
  <HiddenSlides>0</HiddenSlides>
  <MMClips>0</MMClips>
  <ScaleCrop>false</ScaleCrop>
  <HeadingPairs>
    <vt:vector size="6" baseType="variant">
      <vt:variant>
        <vt:lpstr>Theme</vt:lpstr>
      </vt:variant>
      <vt:variant>
        <vt:i4>2</vt:i4>
      </vt:variant>
      <vt:variant>
        <vt:lpstr>Embedded OLE Servers</vt:lpstr>
      </vt:variant>
      <vt:variant>
        <vt:i4>1</vt:i4>
      </vt:variant>
      <vt:variant>
        <vt:lpstr>Slide Titles</vt:lpstr>
      </vt:variant>
      <vt:variant>
        <vt:i4>21</vt:i4>
      </vt:variant>
    </vt:vector>
  </HeadingPairs>
  <TitlesOfParts>
    <vt:vector size="24" baseType="lpstr">
      <vt:lpstr>1_Office Theme</vt:lpstr>
      <vt:lpstr>Contents Slide Master</vt:lpstr>
      <vt:lpstr>CorelDRAW</vt:lpstr>
      <vt:lpstr>Slide 1</vt:lpstr>
      <vt:lpstr>Computer Organization &amp; Architecture: Course Objectives</vt:lpstr>
      <vt:lpstr>COURSE OUTCOMES</vt:lpstr>
      <vt:lpstr>Unit-1 Syllabus</vt:lpstr>
      <vt:lpstr>Central Processing Unit</vt:lpstr>
      <vt:lpstr>Slide 6</vt:lpstr>
      <vt:lpstr>Control Unit</vt:lpstr>
      <vt:lpstr>Slide 8</vt:lpstr>
      <vt:lpstr>Slide 9</vt:lpstr>
      <vt:lpstr>Arithmetic Logic Unit (ALU)</vt:lpstr>
      <vt:lpstr>Slide 11</vt:lpstr>
      <vt:lpstr>Slide 12</vt:lpstr>
      <vt:lpstr>Flip flop and latch</vt:lpstr>
      <vt:lpstr>Registers Memory</vt:lpstr>
      <vt:lpstr>Slide 15</vt:lpstr>
      <vt:lpstr>Slide 16</vt:lpstr>
      <vt:lpstr>Common System Bus of Computer</vt:lpstr>
      <vt:lpstr>Summary</vt:lpstr>
      <vt:lpstr>References</vt:lpstr>
      <vt:lpstr>References</vt:lpstr>
      <vt:lpstr>Slide 21</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User</cp:lastModifiedBy>
  <cp:revision>226</cp:revision>
  <dcterms:created xsi:type="dcterms:W3CDTF">2019-01-09T10:33:58Z</dcterms:created>
  <dcterms:modified xsi:type="dcterms:W3CDTF">2025-01-29T10:19:45Z</dcterms:modified>
</cp:coreProperties>
</file>